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B9BF05-5E3E-40AD-8577-89E1C6F9BDE1}" v="1" dt="2026-04-10T03:41:46.8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ya Vennela" userId="7a26ecd46a2432a2" providerId="LiveId" clId="{C3900F15-D2C3-4AC4-85EE-68E90A8F3339}"/>
    <pc:docChg chg="modSld">
      <pc:chgData name="Navya Vennela" userId="7a26ecd46a2432a2" providerId="LiveId" clId="{C3900F15-D2C3-4AC4-85EE-68E90A8F3339}" dt="2026-04-10T03:42:08.097" v="87" actId="20577"/>
      <pc:docMkLst>
        <pc:docMk/>
      </pc:docMkLst>
      <pc:sldChg chg="modSp mod">
        <pc:chgData name="Navya Vennela" userId="7a26ecd46a2432a2" providerId="LiveId" clId="{C3900F15-D2C3-4AC4-85EE-68E90A8F3339}" dt="2026-04-10T03:42:08.097" v="87" actId="20577"/>
        <pc:sldMkLst>
          <pc:docMk/>
          <pc:sldMk cId="0" sldId="263"/>
        </pc:sldMkLst>
        <pc:spChg chg="mod">
          <ac:chgData name="Navya Vennela" userId="7a26ecd46a2432a2" providerId="LiveId" clId="{C3900F15-D2C3-4AC4-85EE-68E90A8F3339}" dt="2026-04-10T03:42:08.097" v="87" actId="20577"/>
          <ac:spMkLst>
            <pc:docMk/>
            <pc:sldMk cId="0" sldId="263"/>
            <ac:spMk id="12" creationId="{00000000-0000-0000-0000-000000000000}"/>
          </ac:spMkLst>
        </pc:spChg>
        <pc:spChg chg="mod">
          <ac:chgData name="Navya Vennela" userId="7a26ecd46a2432a2" providerId="LiveId" clId="{C3900F15-D2C3-4AC4-85EE-68E90A8F3339}" dt="2026-04-10T03:41:46.894" v="1"/>
          <ac:spMkLst>
            <pc:docMk/>
            <pc:sldMk cId="0" sldId="263"/>
            <ac:spMk id="1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FFFFF"/>
          </a:solidFill>
          <a:ln/>
        </p:spPr>
        <p:txBody>
          <a:bodyPr/>
          <a:lstStyle/>
          <a:p>
            <a:endParaRPr lang="en-IN"/>
          </a:p>
        </p:txBody>
      </p:sp>
      <p:sp>
        <p:nvSpPr>
          <p:cNvPr id="3" name="Shape 1"/>
          <p:cNvSpPr/>
          <p:nvPr/>
        </p:nvSpPr>
        <p:spPr>
          <a:xfrm>
            <a:off x="320040" y="91440"/>
            <a:ext cx="4572000" cy="502920"/>
          </a:xfrm>
          <a:prstGeom prst="rect">
            <a:avLst/>
          </a:prstGeom>
          <a:solidFill>
            <a:srgbClr val="FFFFFF"/>
          </a:solidFill>
          <a:ln w="12700">
            <a:solidFill>
              <a:srgbClr val="CCCCCC"/>
            </a:solidFill>
            <a:prstDash val="solid"/>
          </a:ln>
        </p:spPr>
        <p:txBody>
          <a:bodyPr/>
          <a:lstStyle/>
          <a:p>
            <a:endParaRPr lang="en-IN"/>
          </a:p>
        </p:txBody>
      </p:sp>
      <p:sp>
        <p:nvSpPr>
          <p:cNvPr id="4" name="Text 2"/>
          <p:cNvSpPr/>
          <p:nvPr/>
        </p:nvSpPr>
        <p:spPr>
          <a:xfrm>
            <a:off x="365760" y="137160"/>
            <a:ext cx="4480560" cy="411480"/>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 LinkedIn  Edunet   </a:t>
            </a:r>
            <a:endParaRPr lang="en-US" sz="950" dirty="0"/>
          </a:p>
        </p:txBody>
      </p:sp>
      <p:sp>
        <p:nvSpPr>
          <p:cNvPr id="5" name="Shape 3"/>
          <p:cNvSpPr/>
          <p:nvPr/>
        </p:nvSpPr>
        <p:spPr>
          <a:xfrm>
            <a:off x="5943600" y="0"/>
            <a:ext cx="3200400" cy="5143500"/>
          </a:xfrm>
          <a:prstGeom prst="rect">
            <a:avLst/>
          </a:prstGeom>
          <a:solidFill>
            <a:srgbClr val="1B3A8A"/>
          </a:solidFill>
          <a:ln/>
        </p:spPr>
        <p:txBody>
          <a:bodyPr/>
          <a:lstStyle/>
          <a:p>
            <a:endParaRPr lang="en-IN"/>
          </a:p>
        </p:txBody>
      </p:sp>
      <p:sp>
        <p:nvSpPr>
          <p:cNvPr id="6" name="Shape 4"/>
          <p:cNvSpPr/>
          <p:nvPr/>
        </p:nvSpPr>
        <p:spPr>
          <a:xfrm>
            <a:off x="5486400" y="0"/>
            <a:ext cx="502920" cy="5143500"/>
          </a:xfrm>
          <a:prstGeom prst="rect">
            <a:avLst/>
          </a:prstGeom>
          <a:solidFill>
            <a:srgbClr val="1565C0"/>
          </a:solidFill>
          <a:ln/>
        </p:spPr>
        <p:txBody>
          <a:bodyPr/>
          <a:lstStyle/>
          <a:p>
            <a:endParaRPr lang="en-IN"/>
          </a:p>
        </p:txBody>
      </p:sp>
      <p:sp>
        <p:nvSpPr>
          <p:cNvPr id="9" name="Shape 7"/>
          <p:cNvSpPr/>
          <p:nvPr/>
        </p:nvSpPr>
        <p:spPr>
          <a:xfrm>
            <a:off x="6126480" y="3108960"/>
            <a:ext cx="2834640" cy="109728"/>
          </a:xfrm>
          <a:prstGeom prst="rect">
            <a:avLst/>
          </a:prstGeom>
          <a:solidFill>
            <a:srgbClr val="4FC3F7"/>
          </a:solidFill>
          <a:ln/>
        </p:spPr>
        <p:txBody>
          <a:bodyPr/>
          <a:lstStyle/>
          <a:p>
            <a:endParaRPr lang="en-IN"/>
          </a:p>
        </p:txBody>
      </p:sp>
      <p:sp>
        <p:nvSpPr>
          <p:cNvPr id="10" name="Shape 8"/>
          <p:cNvSpPr/>
          <p:nvPr/>
        </p:nvSpPr>
        <p:spPr>
          <a:xfrm>
            <a:off x="6400800" y="3291840"/>
            <a:ext cx="2468880" cy="109728"/>
          </a:xfrm>
          <a:prstGeom prst="rect">
            <a:avLst/>
          </a:prstGeom>
          <a:solidFill>
            <a:srgbClr val="4FC3F7"/>
          </a:solidFill>
          <a:ln/>
        </p:spPr>
        <p:txBody>
          <a:bodyPr/>
          <a:lstStyle/>
          <a:p>
            <a:endParaRPr lang="en-IN"/>
          </a:p>
        </p:txBody>
      </p:sp>
      <p:sp>
        <p:nvSpPr>
          <p:cNvPr id="11" name="Shape 9"/>
          <p:cNvSpPr/>
          <p:nvPr/>
        </p:nvSpPr>
        <p:spPr>
          <a:xfrm>
            <a:off x="6675120" y="3474720"/>
            <a:ext cx="2103120" cy="109728"/>
          </a:xfrm>
          <a:prstGeom prst="rect">
            <a:avLst/>
          </a:prstGeom>
          <a:solidFill>
            <a:srgbClr val="4FC3F7"/>
          </a:solidFill>
          <a:ln/>
        </p:spPr>
        <p:txBody>
          <a:bodyPr/>
          <a:lstStyle/>
          <a:p>
            <a:endParaRPr lang="en-IN"/>
          </a:p>
        </p:txBody>
      </p:sp>
      <p:sp>
        <p:nvSpPr>
          <p:cNvPr id="12" name="Text 10"/>
          <p:cNvSpPr/>
          <p:nvPr/>
        </p:nvSpPr>
        <p:spPr>
          <a:xfrm>
            <a:off x="320040" y="960120"/>
            <a:ext cx="5029200" cy="1463040"/>
          </a:xfrm>
          <a:prstGeom prst="rect">
            <a:avLst/>
          </a:prstGeom>
          <a:noFill/>
          <a:ln/>
        </p:spPr>
        <p:txBody>
          <a:bodyPr wrap="square" rtlCol="0" anchor="ctr"/>
          <a:lstStyle/>
          <a:p>
            <a:pPr marL="0" indent="0">
              <a:buNone/>
            </a:pPr>
            <a:r>
              <a:rPr lang="en-US" sz="3800" b="1" dirty="0">
                <a:solidFill>
                  <a:srgbClr val="1B3A8A"/>
                </a:solidFill>
                <a:latin typeface="Calibri" pitchFamily="34" charset="0"/>
                <a:ea typeface="Calibri" pitchFamily="34" charset="-122"/>
                <a:cs typeface="Calibri" pitchFamily="34" charset="-120"/>
              </a:rPr>
              <a:t>[Usage of Credit Card Transactional Data]</a:t>
            </a:r>
            <a:endParaRPr lang="en-US" sz="3800" dirty="0"/>
          </a:p>
        </p:txBody>
      </p:sp>
      <p:sp>
        <p:nvSpPr>
          <p:cNvPr id="13" name="Shape 11"/>
          <p:cNvSpPr/>
          <p:nvPr/>
        </p:nvSpPr>
        <p:spPr>
          <a:xfrm>
            <a:off x="320040" y="2578608"/>
            <a:ext cx="3840480" cy="384048"/>
          </a:xfrm>
          <a:prstGeom prst="rect">
            <a:avLst/>
          </a:prstGeom>
          <a:solidFill>
            <a:srgbClr val="1565C0"/>
          </a:solidFill>
          <a:ln/>
        </p:spPr>
        <p:txBody>
          <a:bodyPr/>
          <a:lstStyle/>
          <a:p>
            <a:endParaRPr lang="en-IN"/>
          </a:p>
        </p:txBody>
      </p:sp>
      <p:sp>
        <p:nvSpPr>
          <p:cNvPr id="14" name="Shape 12"/>
          <p:cNvSpPr/>
          <p:nvPr/>
        </p:nvSpPr>
        <p:spPr>
          <a:xfrm>
            <a:off x="4160520" y="2578608"/>
            <a:ext cx="274320" cy="384048"/>
          </a:xfrm>
          <a:prstGeom prst="rect">
            <a:avLst/>
          </a:prstGeom>
          <a:solidFill>
            <a:srgbClr val="1B3A8A"/>
          </a:solidFill>
          <a:ln/>
        </p:spPr>
        <p:txBody>
          <a:bodyPr/>
          <a:lstStyle/>
          <a:p>
            <a:endParaRPr lang="en-IN"/>
          </a:p>
        </p:txBody>
      </p:sp>
      <p:sp>
        <p:nvSpPr>
          <p:cNvPr id="15" name="Text 13"/>
          <p:cNvSpPr/>
          <p:nvPr/>
        </p:nvSpPr>
        <p:spPr>
          <a:xfrm>
            <a:off x="320040" y="2578608"/>
            <a:ext cx="3840480" cy="384048"/>
          </a:xfrm>
          <a:prstGeom prst="rect">
            <a:avLst/>
          </a:prstGeom>
          <a:noFill/>
          <a:ln/>
        </p:spPr>
        <p:txBody>
          <a:bodyPr wrap="square" rtlCol="0" anchor="ctr"/>
          <a:lstStyle/>
          <a:p>
            <a:pPr marL="0" indent="0">
              <a:buNone/>
            </a:pPr>
            <a:r>
              <a:rPr lang="en-US" sz="1300" b="1" kern="0" spc="200">
                <a:solidFill>
                  <a:srgbClr val="FFFFFF"/>
                </a:solidFill>
                <a:latin typeface="Calibri" pitchFamily="34" charset="0"/>
                <a:ea typeface="Calibri" pitchFamily="34" charset="-122"/>
                <a:cs typeface="Calibri" pitchFamily="34" charset="-120"/>
              </a:rPr>
              <a:t>P R E S E N T A T I O N   2 0 2 6</a:t>
            </a:r>
            <a:endParaRPr lang="en-US" sz="1300"/>
          </a:p>
        </p:txBody>
      </p:sp>
      <p:sp>
        <p:nvSpPr>
          <p:cNvPr id="16" name="Shape 14"/>
          <p:cNvSpPr/>
          <p:nvPr/>
        </p:nvSpPr>
        <p:spPr>
          <a:xfrm>
            <a:off x="320040" y="3611880"/>
            <a:ext cx="411480" cy="411480"/>
          </a:xfrm>
          <a:prstGeom prst="ellipse">
            <a:avLst/>
          </a:prstGeom>
          <a:solidFill>
            <a:srgbClr val="ECEFF1"/>
          </a:solidFill>
          <a:ln w="19050">
            <a:solidFill>
              <a:srgbClr val="1B3A8A"/>
            </a:solidFill>
            <a:prstDash val="solid"/>
          </a:ln>
        </p:spPr>
        <p:txBody>
          <a:bodyPr/>
          <a:lstStyle/>
          <a:p>
            <a:endParaRPr lang="en-IN"/>
          </a:p>
        </p:txBody>
      </p:sp>
      <p:sp>
        <p:nvSpPr>
          <p:cNvPr id="17" name="Text 15"/>
          <p:cNvSpPr/>
          <p:nvPr/>
        </p:nvSpPr>
        <p:spPr>
          <a:xfrm>
            <a:off x="320040" y="3621024"/>
            <a:ext cx="411480" cy="393192"/>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18" name="Text 16"/>
          <p:cNvSpPr/>
          <p:nvPr/>
        </p:nvSpPr>
        <p:spPr>
          <a:xfrm>
            <a:off x="777240" y="3611880"/>
            <a:ext cx="1828800" cy="201168"/>
          </a:xfrm>
          <a:prstGeom prst="rect">
            <a:avLst/>
          </a:prstGeom>
          <a:noFill/>
          <a:ln/>
        </p:spPr>
        <p:txBody>
          <a:bodyPr wrap="square" rtlCol="0" anchor="ctr"/>
          <a:lstStyle/>
          <a:p>
            <a:pPr marL="0" indent="0">
              <a:buNone/>
            </a:pPr>
            <a:r>
              <a:rPr lang="en-US" sz="900">
                <a:solidFill>
                  <a:srgbClr val="607D8B"/>
                </a:solidFill>
                <a:latin typeface="Calibri" pitchFamily="34" charset="0"/>
                <a:ea typeface="Calibri" pitchFamily="34" charset="-122"/>
                <a:cs typeface="Calibri" pitchFamily="34" charset="-120"/>
              </a:rPr>
              <a:t>Student Name</a:t>
            </a:r>
            <a:endParaRPr lang="en-US" sz="900"/>
          </a:p>
        </p:txBody>
      </p:sp>
      <p:sp>
        <p:nvSpPr>
          <p:cNvPr id="19" name="Text 17"/>
          <p:cNvSpPr/>
          <p:nvPr/>
        </p:nvSpPr>
        <p:spPr>
          <a:xfrm>
            <a:off x="777240" y="3794760"/>
            <a:ext cx="1828800" cy="228600"/>
          </a:xfrm>
          <a:prstGeom prst="rect">
            <a:avLst/>
          </a:prstGeom>
          <a:noFill/>
          <a:ln/>
        </p:spPr>
        <p:txBody>
          <a:bodyPr wrap="square" rtlCol="0" anchor="ctr"/>
          <a:lstStyle/>
          <a:p>
            <a:pPr marL="0" indent="0">
              <a:buNone/>
            </a:pPr>
            <a:r>
              <a:rPr lang="en-US" sz="1100" b="1" dirty="0">
                <a:solidFill>
                  <a:srgbClr val="1B3A8A"/>
                </a:solidFill>
                <a:latin typeface="Calibri" pitchFamily="34" charset="0"/>
                <a:ea typeface="Calibri" pitchFamily="34" charset="-122"/>
                <a:cs typeface="Calibri" pitchFamily="34" charset="-120"/>
              </a:rPr>
              <a:t>[Navya Varshini Vennela]</a:t>
            </a:r>
            <a:endParaRPr lang="en-US" sz="1100" dirty="0"/>
          </a:p>
        </p:txBody>
      </p:sp>
      <p:sp>
        <p:nvSpPr>
          <p:cNvPr id="20" name="Shape 18"/>
          <p:cNvSpPr/>
          <p:nvPr/>
        </p:nvSpPr>
        <p:spPr>
          <a:xfrm>
            <a:off x="2834640" y="3611880"/>
            <a:ext cx="411480" cy="411480"/>
          </a:xfrm>
          <a:prstGeom prst="ellipse">
            <a:avLst/>
          </a:prstGeom>
          <a:solidFill>
            <a:srgbClr val="ECEFF1"/>
          </a:solidFill>
          <a:ln w="19050">
            <a:solidFill>
              <a:srgbClr val="1B3A8A"/>
            </a:solidFill>
            <a:prstDash val="solid"/>
          </a:ln>
        </p:spPr>
        <p:txBody>
          <a:bodyPr/>
          <a:lstStyle/>
          <a:p>
            <a:endParaRPr lang="en-IN"/>
          </a:p>
        </p:txBody>
      </p:sp>
      <p:sp>
        <p:nvSpPr>
          <p:cNvPr id="21" name="Text 19"/>
          <p:cNvSpPr/>
          <p:nvPr/>
        </p:nvSpPr>
        <p:spPr>
          <a:xfrm>
            <a:off x="2834640" y="3621024"/>
            <a:ext cx="411480" cy="393192"/>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22" name="Text 20"/>
          <p:cNvSpPr/>
          <p:nvPr/>
        </p:nvSpPr>
        <p:spPr>
          <a:xfrm>
            <a:off x="3291840" y="3611880"/>
            <a:ext cx="1828800" cy="201168"/>
          </a:xfrm>
          <a:prstGeom prst="rect">
            <a:avLst/>
          </a:prstGeom>
          <a:noFill/>
          <a:ln/>
        </p:spPr>
        <p:txBody>
          <a:bodyPr wrap="square" rtlCol="0" anchor="ctr"/>
          <a:lstStyle/>
          <a:p>
            <a:pPr marL="0" indent="0">
              <a:buNone/>
            </a:pPr>
            <a:r>
              <a:rPr lang="en-US" sz="900">
                <a:solidFill>
                  <a:srgbClr val="607D8B"/>
                </a:solidFill>
                <a:latin typeface="Calibri" pitchFamily="34" charset="0"/>
                <a:ea typeface="Calibri" pitchFamily="34" charset="-122"/>
                <a:cs typeface="Calibri" pitchFamily="34" charset="-120"/>
              </a:rPr>
              <a:t>Student Email</a:t>
            </a:r>
            <a:endParaRPr lang="en-US" sz="900"/>
          </a:p>
        </p:txBody>
      </p:sp>
      <p:sp>
        <p:nvSpPr>
          <p:cNvPr id="23" name="Text 21"/>
          <p:cNvSpPr/>
          <p:nvPr/>
        </p:nvSpPr>
        <p:spPr>
          <a:xfrm>
            <a:off x="3291840" y="3794760"/>
            <a:ext cx="1828800" cy="228600"/>
          </a:xfrm>
          <a:prstGeom prst="rect">
            <a:avLst/>
          </a:prstGeom>
          <a:noFill/>
          <a:ln/>
        </p:spPr>
        <p:txBody>
          <a:bodyPr wrap="square" rtlCol="0" anchor="ctr"/>
          <a:lstStyle/>
          <a:p>
            <a:pPr marL="0" indent="0">
              <a:buNone/>
            </a:pPr>
            <a:r>
              <a:rPr lang="en-US" sz="1100" b="1" dirty="0">
                <a:solidFill>
                  <a:srgbClr val="1B3A8A"/>
                </a:solidFill>
                <a:latin typeface="Calibri" pitchFamily="34" charset="0"/>
                <a:ea typeface="Calibri" pitchFamily="34" charset="-122"/>
                <a:cs typeface="Calibri" pitchFamily="34" charset="-120"/>
              </a:rPr>
              <a:t>[honeyaji2020@gmail.com]</a:t>
            </a:r>
            <a:endParaRPr lang="en-US" sz="1100" dirty="0"/>
          </a:p>
        </p:txBody>
      </p:sp>
      <p:sp>
        <p:nvSpPr>
          <p:cNvPr id="24" name="Shape 22"/>
          <p:cNvSpPr/>
          <p:nvPr/>
        </p:nvSpPr>
        <p:spPr>
          <a:xfrm>
            <a:off x="277722" y="4384041"/>
            <a:ext cx="411480" cy="411480"/>
          </a:xfrm>
          <a:prstGeom prst="ellipse">
            <a:avLst/>
          </a:prstGeom>
          <a:solidFill>
            <a:srgbClr val="ECEFF1"/>
          </a:solidFill>
          <a:ln w="19050">
            <a:solidFill>
              <a:srgbClr val="1B3A8A"/>
            </a:solidFill>
            <a:prstDash val="solid"/>
          </a:ln>
        </p:spPr>
        <p:txBody>
          <a:bodyPr/>
          <a:lstStyle/>
          <a:p>
            <a:endParaRPr lang="en-IN"/>
          </a:p>
        </p:txBody>
      </p:sp>
      <p:sp>
        <p:nvSpPr>
          <p:cNvPr id="25" name="Text 23"/>
          <p:cNvSpPr/>
          <p:nvPr/>
        </p:nvSpPr>
        <p:spPr>
          <a:xfrm>
            <a:off x="277722" y="4393185"/>
            <a:ext cx="411480" cy="393192"/>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27" name="Text 25"/>
          <p:cNvSpPr/>
          <p:nvPr/>
        </p:nvSpPr>
        <p:spPr>
          <a:xfrm>
            <a:off x="782333" y="4478866"/>
            <a:ext cx="1828800" cy="228600"/>
          </a:xfrm>
          <a:prstGeom prst="rect">
            <a:avLst/>
          </a:prstGeom>
          <a:noFill/>
          <a:ln/>
        </p:spPr>
        <p:txBody>
          <a:bodyPr wrap="square" rtlCol="0" anchor="ctr"/>
          <a:lstStyle/>
          <a:p>
            <a:pPr marL="0" indent="0">
              <a:buNone/>
            </a:pPr>
            <a:r>
              <a:rPr lang="en-US" sz="1100" b="1" dirty="0">
                <a:solidFill>
                  <a:srgbClr val="1B3A8A"/>
                </a:solidFill>
                <a:latin typeface="Calibri" pitchFamily="34" charset="0"/>
                <a:ea typeface="Calibri" pitchFamily="34" charset="-122"/>
                <a:cs typeface="Calibri" pitchFamily="34" charset="-120"/>
              </a:rPr>
              <a:t>[Mr.Bhuvanesh Sir]</a:t>
            </a:r>
            <a:endParaRPr lang="en-US" sz="1100" dirty="0"/>
          </a:p>
        </p:txBody>
      </p:sp>
      <p:sp>
        <p:nvSpPr>
          <p:cNvPr id="28" name="Shape 26"/>
          <p:cNvSpPr/>
          <p:nvPr/>
        </p:nvSpPr>
        <p:spPr>
          <a:xfrm>
            <a:off x="0" y="4983480"/>
            <a:ext cx="9144000" cy="160020"/>
          </a:xfrm>
          <a:prstGeom prst="rect">
            <a:avLst/>
          </a:prstGeom>
          <a:solidFill>
            <a:srgbClr val="1B3A8A"/>
          </a:solidFill>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txBody>
          <a:bodyPr/>
          <a:lstStyle/>
          <a:p>
            <a:endParaRPr lang="en-IN"/>
          </a:p>
        </p:txBody>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dirty="0" err="1">
                <a:solidFill>
                  <a:srgbClr val="4FC3F7"/>
                </a:solidFill>
                <a:latin typeface="Calibri" pitchFamily="34" charset="0"/>
                <a:ea typeface="Calibri" pitchFamily="34" charset="-122"/>
                <a:cs typeface="Calibri" pitchFamily="34" charset="-120"/>
              </a:rPr>
              <a:t>edunet</a:t>
            </a:r>
            <a:endParaRPr lang="en-US" sz="800" dirty="0"/>
          </a:p>
          <a:p>
            <a:pPr marL="0" indent="0" algn="r">
              <a:buNone/>
            </a:pPr>
            <a:r>
              <a:rPr lang="en-US" sz="800" b="1" dirty="0">
                <a:solidFill>
                  <a:srgbClr val="4FC3F7"/>
                </a:solidFill>
                <a:latin typeface="Calibri" pitchFamily="34" charset="0"/>
                <a:ea typeface="Calibri" pitchFamily="34" charset="-122"/>
                <a:cs typeface="Calibri" pitchFamily="34" charset="-120"/>
              </a:rPr>
              <a:t>foundation</a:t>
            </a:r>
            <a:endParaRPr lang="en-US" sz="800" dirty="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OUTLINE</a:t>
            </a:r>
            <a:endParaRPr lang="en-US" sz="2200"/>
          </a:p>
        </p:txBody>
      </p:sp>
      <p:sp>
        <p:nvSpPr>
          <p:cNvPr id="5" name="Shape 3"/>
          <p:cNvSpPr/>
          <p:nvPr/>
        </p:nvSpPr>
        <p:spPr>
          <a:xfrm>
            <a:off x="0" y="4983480"/>
            <a:ext cx="9144000" cy="160020"/>
          </a:xfrm>
          <a:prstGeom prst="rect">
            <a:avLst/>
          </a:prstGeom>
          <a:solidFill>
            <a:srgbClr val="1B3A8A"/>
          </a:solidFill>
          <a:ln/>
        </p:spPr>
        <p:txBody>
          <a:bodyPr/>
          <a:lstStyle/>
          <a:p>
            <a:endParaRPr lang="en-IN"/>
          </a:p>
        </p:txBody>
      </p:sp>
      <p:sp>
        <p:nvSpPr>
          <p:cNvPr id="6" name="Text 4"/>
          <p:cNvSpPr/>
          <p:nvPr/>
        </p:nvSpPr>
        <p:spPr>
          <a:xfrm>
            <a:off x="457200" y="1234440"/>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Abstract of the Project</a:t>
            </a:r>
            <a:endParaRPr lang="en-US" sz="1300"/>
          </a:p>
        </p:txBody>
      </p:sp>
      <p:sp>
        <p:nvSpPr>
          <p:cNvPr id="7" name="Text 5"/>
          <p:cNvSpPr/>
          <p:nvPr/>
        </p:nvSpPr>
        <p:spPr>
          <a:xfrm>
            <a:off x="457200" y="1664208"/>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Problem Statement</a:t>
            </a:r>
            <a:endParaRPr lang="en-US" sz="1300"/>
          </a:p>
        </p:txBody>
      </p:sp>
      <p:sp>
        <p:nvSpPr>
          <p:cNvPr id="8" name="Text 6"/>
          <p:cNvSpPr/>
          <p:nvPr/>
        </p:nvSpPr>
        <p:spPr>
          <a:xfrm>
            <a:off x="457200" y="2093976"/>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Proposed Solution</a:t>
            </a:r>
            <a:endParaRPr lang="en-US" sz="1300"/>
          </a:p>
        </p:txBody>
      </p:sp>
      <p:sp>
        <p:nvSpPr>
          <p:cNvPr id="9" name="Text 7"/>
          <p:cNvSpPr/>
          <p:nvPr/>
        </p:nvSpPr>
        <p:spPr>
          <a:xfrm>
            <a:off x="457200" y="2523744"/>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System Architecture</a:t>
            </a:r>
            <a:endParaRPr lang="en-US" sz="1300"/>
          </a:p>
        </p:txBody>
      </p:sp>
      <p:sp>
        <p:nvSpPr>
          <p:cNvPr id="10" name="Text 8"/>
          <p:cNvSpPr/>
          <p:nvPr/>
        </p:nvSpPr>
        <p:spPr>
          <a:xfrm>
            <a:off x="457200" y="2953512"/>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Live Demo of the Project</a:t>
            </a:r>
            <a:endParaRPr lang="en-US" sz="1300"/>
          </a:p>
        </p:txBody>
      </p:sp>
      <p:sp>
        <p:nvSpPr>
          <p:cNvPr id="11" name="Text 9"/>
          <p:cNvSpPr/>
          <p:nvPr/>
        </p:nvSpPr>
        <p:spPr>
          <a:xfrm>
            <a:off x="457200" y="3383280"/>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Embedded Video of Project</a:t>
            </a:r>
            <a:endParaRPr lang="en-US" sz="1300"/>
          </a:p>
        </p:txBody>
      </p:sp>
      <p:sp>
        <p:nvSpPr>
          <p:cNvPr id="12" name="Text 10"/>
          <p:cNvSpPr/>
          <p:nvPr/>
        </p:nvSpPr>
        <p:spPr>
          <a:xfrm>
            <a:off x="457200" y="3813048"/>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Conclusion</a:t>
            </a:r>
            <a:endParaRPr lang="en-US" sz="1300"/>
          </a:p>
        </p:txBody>
      </p:sp>
      <p:sp>
        <p:nvSpPr>
          <p:cNvPr id="13" name="Text 11"/>
          <p:cNvSpPr/>
          <p:nvPr/>
        </p:nvSpPr>
        <p:spPr>
          <a:xfrm>
            <a:off x="457200" y="4242816"/>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Future Scope</a:t>
            </a:r>
            <a:endParaRPr lang="en-US" sz="1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txBody>
          <a:bodyPr/>
          <a:lstStyle/>
          <a:p>
            <a:endParaRPr lang="en-IN"/>
          </a:p>
        </p:txBody>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dirty="0" err="1">
                <a:solidFill>
                  <a:srgbClr val="4FC3F7"/>
                </a:solidFill>
                <a:latin typeface="Calibri" pitchFamily="34" charset="0"/>
                <a:ea typeface="Calibri" pitchFamily="34" charset="-122"/>
                <a:cs typeface="Calibri" pitchFamily="34" charset="-120"/>
              </a:rPr>
              <a:t>edunet</a:t>
            </a:r>
            <a:endParaRPr lang="en-US" sz="800" dirty="0"/>
          </a:p>
          <a:p>
            <a:pPr marL="0" indent="0" algn="r">
              <a:buNone/>
            </a:pPr>
            <a:r>
              <a:rPr lang="en-US" sz="800" b="1" dirty="0">
                <a:solidFill>
                  <a:srgbClr val="4FC3F7"/>
                </a:solidFill>
                <a:latin typeface="Calibri" pitchFamily="34" charset="0"/>
                <a:ea typeface="Calibri" pitchFamily="34" charset="-122"/>
                <a:cs typeface="Calibri" pitchFamily="34" charset="-120"/>
              </a:rPr>
              <a:t>foundation</a:t>
            </a:r>
            <a:endParaRPr lang="en-US" sz="800" dirty="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Abstract</a:t>
            </a:r>
            <a:endParaRPr lang="en-US" sz="2200"/>
          </a:p>
        </p:txBody>
      </p:sp>
      <p:sp>
        <p:nvSpPr>
          <p:cNvPr id="5" name="Shape 3"/>
          <p:cNvSpPr/>
          <p:nvPr/>
        </p:nvSpPr>
        <p:spPr>
          <a:xfrm>
            <a:off x="0" y="4983480"/>
            <a:ext cx="9144000" cy="160020"/>
          </a:xfrm>
          <a:prstGeom prst="rect">
            <a:avLst/>
          </a:prstGeom>
          <a:solidFill>
            <a:srgbClr val="1B3A8A"/>
          </a:solidFill>
          <a:ln/>
        </p:spPr>
        <p:txBody>
          <a:bodyPr/>
          <a:lstStyle/>
          <a:p>
            <a:endParaRPr lang="en-IN"/>
          </a:p>
        </p:txBody>
      </p:sp>
      <p:sp>
        <p:nvSpPr>
          <p:cNvPr id="19" name="Text 12">
            <a:extLst>
              <a:ext uri="{FF2B5EF4-FFF2-40B4-BE49-F238E27FC236}">
                <a16:creationId xmlns:a16="http://schemas.microsoft.com/office/drawing/2014/main" id="{7BA53C9D-AAA2-05C7-14B1-F7DA481CA53F}"/>
              </a:ext>
            </a:extLst>
          </p:cNvPr>
          <p:cNvSpPr/>
          <p:nvPr/>
        </p:nvSpPr>
        <p:spPr>
          <a:xfrm>
            <a:off x="457200" y="1284468"/>
            <a:ext cx="7437864" cy="2373132"/>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 This project focuses on analyzing the usage of credit card transactional data to understand spending patterns and trends. The main objective is to study transaction behavior based on payment methods and product categories.</a:t>
            </a:r>
          </a:p>
          <a:p>
            <a:endParaRPr lang="en-US" sz="1300" b="1" dirty="0">
              <a:solidFill>
                <a:srgbClr val="1565C0"/>
              </a:solidFill>
              <a:latin typeface="Calibri" pitchFamily="34" charset="0"/>
              <a:ea typeface="Calibri" pitchFamily="34" charset="-122"/>
              <a:cs typeface="Calibri" pitchFamily="34" charset="-120"/>
            </a:endParaRPr>
          </a:p>
          <a:p>
            <a:r>
              <a:rPr lang="en-US" sz="1300" b="1" dirty="0">
                <a:solidFill>
                  <a:srgbClr val="1565C0"/>
                </a:solidFill>
                <a:latin typeface="Calibri" pitchFamily="34" charset="0"/>
                <a:ea typeface="Calibri" pitchFamily="34" charset="-122"/>
                <a:cs typeface="Calibri" pitchFamily="34" charset="-120"/>
              </a:rPr>
              <a:t>• The project is developed using Microsoft Excel with the help of pivot tables and charts for data analysis and visualization.</a:t>
            </a:r>
          </a:p>
          <a:p>
            <a:endParaRPr lang="en-US" sz="1300" b="1" dirty="0">
              <a:solidFill>
                <a:srgbClr val="1565C0"/>
              </a:solidFill>
              <a:latin typeface="Calibri" pitchFamily="34" charset="0"/>
              <a:ea typeface="Calibri" pitchFamily="34" charset="-122"/>
              <a:cs typeface="Calibri" pitchFamily="34" charset="-120"/>
            </a:endParaRPr>
          </a:p>
          <a:p>
            <a:r>
              <a:rPr lang="en-US" sz="1300" b="1" dirty="0">
                <a:solidFill>
                  <a:srgbClr val="1565C0"/>
                </a:solidFill>
                <a:latin typeface="Calibri" pitchFamily="34" charset="0"/>
                <a:ea typeface="Calibri" pitchFamily="34" charset="-122"/>
                <a:cs typeface="Calibri" pitchFamily="34" charset="-120"/>
              </a:rPr>
              <a:t>• The expected outcome is to present insights in a simple dashboard format, making it easy to understand transaction distribution. The key highlight of this project is the use of visual charts like pie chart and bar graph for better interpretation of data</a:t>
            </a:r>
            <a:endParaRPr lang="en-US" sz="1300" dirty="0"/>
          </a:p>
        </p:txBody>
      </p:sp>
      <p:sp>
        <p:nvSpPr>
          <p:cNvPr id="20" name="Text 13">
            <a:extLst>
              <a:ext uri="{FF2B5EF4-FFF2-40B4-BE49-F238E27FC236}">
                <a16:creationId xmlns:a16="http://schemas.microsoft.com/office/drawing/2014/main" id="{FBB90A13-7196-D2E6-20B4-845F03152899}"/>
              </a:ext>
            </a:extLst>
          </p:cNvPr>
          <p:cNvSpPr/>
          <p:nvPr/>
        </p:nvSpPr>
        <p:spPr>
          <a:xfrm>
            <a:off x="457200" y="1664208"/>
            <a:ext cx="4114800" cy="402336"/>
          </a:xfrm>
          <a:prstGeom prst="rect">
            <a:avLst/>
          </a:prstGeom>
          <a:noFill/>
          <a:ln/>
        </p:spPr>
        <p:txBody>
          <a:bodyPr wrap="square" rtlCol="0" anchor="ctr"/>
          <a:lstStyle/>
          <a:p>
            <a:pPr marL="0" indent="0">
              <a:buNone/>
            </a:pPr>
            <a:endParaRPr lang="en-US" sz="1300" dirty="0"/>
          </a:p>
        </p:txBody>
      </p:sp>
      <p:sp>
        <p:nvSpPr>
          <p:cNvPr id="21" name="Text 14">
            <a:extLst>
              <a:ext uri="{FF2B5EF4-FFF2-40B4-BE49-F238E27FC236}">
                <a16:creationId xmlns:a16="http://schemas.microsoft.com/office/drawing/2014/main" id="{4BCD0967-8763-EBD0-918B-8930803EE40C}"/>
              </a:ext>
            </a:extLst>
          </p:cNvPr>
          <p:cNvSpPr/>
          <p:nvPr/>
        </p:nvSpPr>
        <p:spPr>
          <a:xfrm>
            <a:off x="457200" y="2093976"/>
            <a:ext cx="4114800" cy="402336"/>
          </a:xfrm>
          <a:prstGeom prst="rect">
            <a:avLst/>
          </a:prstGeom>
          <a:noFill/>
          <a:ln/>
        </p:spPr>
        <p:txBody>
          <a:bodyPr wrap="square" rtlCol="0" anchor="ctr"/>
          <a:lstStyle/>
          <a:p>
            <a:pPr marL="0" indent="0">
              <a:buNone/>
            </a:pPr>
            <a:endParaRPr lang="en-US" sz="1300" dirty="0"/>
          </a:p>
        </p:txBody>
      </p:sp>
      <p:sp>
        <p:nvSpPr>
          <p:cNvPr id="22" name="Text 15">
            <a:extLst>
              <a:ext uri="{FF2B5EF4-FFF2-40B4-BE49-F238E27FC236}">
                <a16:creationId xmlns:a16="http://schemas.microsoft.com/office/drawing/2014/main" id="{A079AF38-4D82-61EA-A6DE-714C1225E65B}"/>
              </a:ext>
            </a:extLst>
          </p:cNvPr>
          <p:cNvSpPr/>
          <p:nvPr/>
        </p:nvSpPr>
        <p:spPr>
          <a:xfrm>
            <a:off x="457200" y="2523744"/>
            <a:ext cx="4114800" cy="402336"/>
          </a:xfrm>
          <a:prstGeom prst="rect">
            <a:avLst/>
          </a:prstGeom>
          <a:noFill/>
          <a:ln/>
        </p:spPr>
        <p:txBody>
          <a:bodyPr wrap="square" rtlCol="0" anchor="ctr"/>
          <a:lstStyle/>
          <a:p>
            <a:pPr marL="0" indent="0">
              <a:buNone/>
            </a:pPr>
            <a:endParaRPr lang="en-US" sz="1300" dirty="0"/>
          </a:p>
        </p:txBody>
      </p:sp>
      <p:sp>
        <p:nvSpPr>
          <p:cNvPr id="23" name="Text 16">
            <a:extLst>
              <a:ext uri="{FF2B5EF4-FFF2-40B4-BE49-F238E27FC236}">
                <a16:creationId xmlns:a16="http://schemas.microsoft.com/office/drawing/2014/main" id="{E42052B7-1005-7C95-89EC-CBD8D61EEAEE}"/>
              </a:ext>
            </a:extLst>
          </p:cNvPr>
          <p:cNvSpPr/>
          <p:nvPr/>
        </p:nvSpPr>
        <p:spPr>
          <a:xfrm>
            <a:off x="457200" y="2953512"/>
            <a:ext cx="4114800" cy="402336"/>
          </a:xfrm>
          <a:prstGeom prst="rect">
            <a:avLst/>
          </a:prstGeom>
          <a:noFill/>
          <a:ln/>
        </p:spPr>
        <p:txBody>
          <a:bodyPr wrap="square" rtlCol="0" anchor="ctr"/>
          <a:lstStyle/>
          <a:p>
            <a:pPr marL="0" indent="0">
              <a:buNone/>
            </a:pP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txBody>
          <a:bodyPr/>
          <a:lstStyle/>
          <a:p>
            <a:endParaRPr lang="en-IN"/>
          </a:p>
        </p:txBody>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dirty="0" err="1">
                <a:solidFill>
                  <a:srgbClr val="4FC3F7"/>
                </a:solidFill>
                <a:latin typeface="Calibri" pitchFamily="34" charset="0"/>
                <a:ea typeface="Calibri" pitchFamily="34" charset="-122"/>
                <a:cs typeface="Calibri" pitchFamily="34" charset="-120"/>
              </a:rPr>
              <a:t>edunet</a:t>
            </a:r>
            <a:endParaRPr lang="en-US" sz="800" dirty="0"/>
          </a:p>
          <a:p>
            <a:pPr marL="0" indent="0" algn="r">
              <a:buNone/>
            </a:pPr>
            <a:r>
              <a:rPr lang="en-US" sz="800" b="1" dirty="0">
                <a:solidFill>
                  <a:srgbClr val="4FC3F7"/>
                </a:solidFill>
                <a:latin typeface="Calibri" pitchFamily="34" charset="0"/>
                <a:ea typeface="Calibri" pitchFamily="34" charset="-122"/>
                <a:cs typeface="Calibri" pitchFamily="34" charset="-120"/>
              </a:rPr>
              <a:t>foundation</a:t>
            </a:r>
            <a:endParaRPr lang="en-US" sz="800" dirty="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Problem Statement</a:t>
            </a:r>
            <a:endParaRPr lang="en-US" sz="2200"/>
          </a:p>
        </p:txBody>
      </p:sp>
      <p:sp>
        <p:nvSpPr>
          <p:cNvPr id="5" name="Shape 3"/>
          <p:cNvSpPr/>
          <p:nvPr/>
        </p:nvSpPr>
        <p:spPr>
          <a:xfrm>
            <a:off x="0" y="4983480"/>
            <a:ext cx="9144000" cy="160020"/>
          </a:xfrm>
          <a:prstGeom prst="rect">
            <a:avLst/>
          </a:prstGeom>
          <a:solidFill>
            <a:srgbClr val="1B3A8A"/>
          </a:solidFill>
          <a:ln/>
        </p:spPr>
        <p:txBody>
          <a:bodyPr/>
          <a:lstStyle/>
          <a:p>
            <a:endParaRPr lang="en-IN"/>
          </a:p>
        </p:txBody>
      </p:sp>
      <p:sp>
        <p:nvSpPr>
          <p:cNvPr id="14" name="Text 12"/>
          <p:cNvSpPr/>
          <p:nvPr/>
        </p:nvSpPr>
        <p:spPr>
          <a:xfrm>
            <a:off x="457199" y="1234440"/>
            <a:ext cx="7118195" cy="2542105"/>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 Understanding credit card transactions data can be difficult due to the large volume of data and l                   lack of proper visualizations. It is challenging to identify spending patterns and trends without organized analysis</a:t>
            </a:r>
          </a:p>
          <a:p>
            <a:pPr marL="0" indent="0">
              <a:buNone/>
            </a:pPr>
            <a:endParaRPr lang="en-US" sz="1300" b="1" dirty="0">
              <a:solidFill>
                <a:srgbClr val="1565C0"/>
              </a:solidFill>
              <a:latin typeface="Calibri" pitchFamily="34" charset="0"/>
              <a:ea typeface="Calibri" pitchFamily="34" charset="-122"/>
              <a:cs typeface="Calibri" pitchFamily="34" charset="-120"/>
            </a:endParaRPr>
          </a:p>
          <a:p>
            <a:r>
              <a:rPr lang="en-US" sz="1300" b="1" dirty="0">
                <a:solidFill>
                  <a:srgbClr val="1565C0"/>
                </a:solidFill>
                <a:latin typeface="Calibri" pitchFamily="34" charset="0"/>
                <a:ea typeface="Calibri" pitchFamily="34" charset="-122"/>
                <a:cs typeface="Calibri" pitchFamily="34" charset="-120"/>
              </a:rPr>
              <a:t>• This problem affects businesses and users who want to track transactions behavior and make better decisions. Existing methods are often complex or do not present data in a clear visual format</a:t>
            </a:r>
          </a:p>
          <a:p>
            <a:pPr marL="0" indent="0">
              <a:buNone/>
            </a:pPr>
            <a:endParaRPr lang="en-US" sz="1300" b="1" dirty="0">
              <a:solidFill>
                <a:srgbClr val="1565C0"/>
              </a:solidFill>
              <a:latin typeface="Calibri" pitchFamily="34" charset="0"/>
              <a:ea typeface="Calibri" pitchFamily="34" charset="-122"/>
              <a:cs typeface="Calibri" pitchFamily="34" charset="-120"/>
            </a:endParaRPr>
          </a:p>
          <a:p>
            <a:r>
              <a:rPr lang="en-US" sz="1300" b="1" dirty="0">
                <a:solidFill>
                  <a:srgbClr val="1565C0"/>
                </a:solidFill>
                <a:latin typeface="Calibri" pitchFamily="34" charset="0"/>
                <a:ea typeface="Calibri" pitchFamily="34" charset="-122"/>
                <a:cs typeface="Calibri" pitchFamily="34" charset="-120"/>
              </a:rPr>
              <a:t>• The scope of this project is limited to analyzing transaction amount based on payment methods and product categories using simple tools for better understanding </a:t>
            </a:r>
          </a:p>
          <a:p>
            <a:pPr marL="0" indent="0">
              <a:buNone/>
            </a:pPr>
            <a:endParaRPr lang="en-US" sz="1300" b="1" dirty="0">
              <a:solidFill>
                <a:srgbClr val="1565C0"/>
              </a:solidFill>
              <a:latin typeface="Calibri" pitchFamily="34" charset="0"/>
              <a:ea typeface="Calibri" pitchFamily="34" charset="-122"/>
              <a:cs typeface="Calibri" pitchFamily="34" charset="-120"/>
            </a:endParaRPr>
          </a:p>
        </p:txBody>
      </p:sp>
      <p:sp>
        <p:nvSpPr>
          <p:cNvPr id="15" name="Text 13"/>
          <p:cNvSpPr/>
          <p:nvPr/>
        </p:nvSpPr>
        <p:spPr>
          <a:xfrm>
            <a:off x="457200" y="1664208"/>
            <a:ext cx="4114800" cy="402336"/>
          </a:xfrm>
          <a:prstGeom prst="rect">
            <a:avLst/>
          </a:prstGeom>
          <a:noFill/>
          <a:ln/>
        </p:spPr>
        <p:txBody>
          <a:bodyPr wrap="square" rtlCol="0" anchor="ctr"/>
          <a:lstStyle/>
          <a:p>
            <a:pPr marL="0" indent="0">
              <a:buNone/>
            </a:pPr>
            <a:endParaRPr lang="en-US" sz="1300" dirty="0"/>
          </a:p>
        </p:txBody>
      </p:sp>
      <p:sp>
        <p:nvSpPr>
          <p:cNvPr id="16" name="Text 14"/>
          <p:cNvSpPr/>
          <p:nvPr/>
        </p:nvSpPr>
        <p:spPr>
          <a:xfrm>
            <a:off x="457200" y="2093976"/>
            <a:ext cx="4114800" cy="402336"/>
          </a:xfrm>
          <a:prstGeom prst="rect">
            <a:avLst/>
          </a:prstGeom>
          <a:noFill/>
          <a:ln/>
        </p:spPr>
        <p:txBody>
          <a:bodyPr wrap="square" rtlCol="0" anchor="ctr"/>
          <a:lstStyle/>
          <a:p>
            <a:pPr marL="0" indent="0">
              <a:buNone/>
            </a:pPr>
            <a:endParaRPr lang="en-US" sz="1300" dirty="0"/>
          </a:p>
        </p:txBody>
      </p:sp>
      <p:sp>
        <p:nvSpPr>
          <p:cNvPr id="17" name="Text 15"/>
          <p:cNvSpPr/>
          <p:nvPr/>
        </p:nvSpPr>
        <p:spPr>
          <a:xfrm>
            <a:off x="457200" y="2523744"/>
            <a:ext cx="4114800" cy="402336"/>
          </a:xfrm>
          <a:prstGeom prst="rect">
            <a:avLst/>
          </a:prstGeom>
          <a:noFill/>
          <a:ln/>
        </p:spPr>
        <p:txBody>
          <a:bodyPr wrap="square" rtlCol="0" anchor="ctr"/>
          <a:lstStyle/>
          <a:p>
            <a:pPr marL="0" indent="0">
              <a:buNone/>
            </a:pPr>
            <a:endParaRPr lang="en-US" sz="1300" dirty="0"/>
          </a:p>
        </p:txBody>
      </p:sp>
      <p:sp>
        <p:nvSpPr>
          <p:cNvPr id="18" name="Text 16"/>
          <p:cNvSpPr/>
          <p:nvPr/>
        </p:nvSpPr>
        <p:spPr>
          <a:xfrm>
            <a:off x="457200" y="2953512"/>
            <a:ext cx="4114800" cy="402336"/>
          </a:xfrm>
          <a:prstGeom prst="rect">
            <a:avLst/>
          </a:prstGeom>
          <a:noFill/>
          <a:ln/>
        </p:spPr>
        <p:txBody>
          <a:bodyPr wrap="square" rtlCol="0" anchor="ctr"/>
          <a:lstStyle/>
          <a:p>
            <a:pPr marL="0" indent="0">
              <a:buNone/>
            </a:pP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txBody>
          <a:bodyPr/>
          <a:lstStyle/>
          <a:p>
            <a:endParaRPr lang="en-IN"/>
          </a:p>
        </p:txBody>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dirty="0" err="1">
                <a:solidFill>
                  <a:srgbClr val="4FC3F7"/>
                </a:solidFill>
                <a:latin typeface="Calibri" pitchFamily="34" charset="0"/>
                <a:ea typeface="Calibri" pitchFamily="34" charset="-122"/>
                <a:cs typeface="Calibri" pitchFamily="34" charset="-120"/>
              </a:rPr>
              <a:t>edunet</a:t>
            </a:r>
            <a:endParaRPr lang="en-US" sz="800" dirty="0"/>
          </a:p>
          <a:p>
            <a:pPr marL="0" indent="0" algn="r">
              <a:buNone/>
            </a:pPr>
            <a:r>
              <a:rPr lang="en-US" sz="800" b="1" dirty="0">
                <a:solidFill>
                  <a:srgbClr val="4FC3F7"/>
                </a:solidFill>
                <a:latin typeface="Calibri" pitchFamily="34" charset="0"/>
                <a:ea typeface="Calibri" pitchFamily="34" charset="-122"/>
                <a:cs typeface="Calibri" pitchFamily="34" charset="-120"/>
              </a:rPr>
              <a:t>foundation</a:t>
            </a:r>
            <a:endParaRPr lang="en-US" sz="800" dirty="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Proposed Solution</a:t>
            </a:r>
            <a:endParaRPr lang="en-US" sz="2200" dirty="0"/>
          </a:p>
        </p:txBody>
      </p:sp>
      <p:sp>
        <p:nvSpPr>
          <p:cNvPr id="5" name="Shape 3"/>
          <p:cNvSpPr/>
          <p:nvPr/>
        </p:nvSpPr>
        <p:spPr>
          <a:xfrm>
            <a:off x="0" y="4983480"/>
            <a:ext cx="9144000" cy="160020"/>
          </a:xfrm>
          <a:prstGeom prst="rect">
            <a:avLst/>
          </a:prstGeom>
          <a:solidFill>
            <a:srgbClr val="1B3A8A"/>
          </a:solidFill>
          <a:ln/>
        </p:spPr>
        <p:txBody>
          <a:bodyPr/>
          <a:lstStyle/>
          <a:p>
            <a:endParaRPr lang="en-IN"/>
          </a:p>
        </p:txBody>
      </p:sp>
      <p:sp>
        <p:nvSpPr>
          <p:cNvPr id="14" name="Text 12"/>
          <p:cNvSpPr/>
          <p:nvPr/>
        </p:nvSpPr>
        <p:spPr>
          <a:xfrm>
            <a:off x="457200" y="1234440"/>
            <a:ext cx="4114800" cy="3474720"/>
          </a:xfrm>
          <a:prstGeom prst="rect">
            <a:avLst/>
          </a:prstGeom>
          <a:noFill/>
          <a:ln/>
        </p:spPr>
        <p:txBody>
          <a:bodyPr wrap="square" rtlCol="0" anchor="t"/>
          <a:lstStyle/>
          <a:p>
            <a:r>
              <a:rPr lang="en-US" sz="1300" dirty="0">
                <a:solidFill>
                  <a:srgbClr val="1A1A2E"/>
                </a:solidFill>
                <a:latin typeface="Calibri" pitchFamily="34" charset="0"/>
                <a:ea typeface="Calibri" pitchFamily="34" charset="-122"/>
                <a:cs typeface="Calibri" pitchFamily="34" charset="-120"/>
              </a:rPr>
              <a:t>The proposed solution is to analyze credit card transaction data using a simple and structured approach. The data is organized and summarized using pivot tables, and visualized using charts for better understanding.</a:t>
            </a:r>
          </a:p>
          <a:p>
            <a:endParaRPr lang="en-US" sz="1300" dirty="0">
              <a:solidFill>
                <a:srgbClr val="1A1A2E"/>
              </a:solidFill>
              <a:latin typeface="Calibri" pitchFamily="34" charset="0"/>
              <a:ea typeface="Calibri" pitchFamily="34" charset="-122"/>
              <a:cs typeface="Calibri" pitchFamily="34" charset="-120"/>
            </a:endParaRPr>
          </a:p>
          <a:p>
            <a:r>
              <a:rPr lang="en-US" sz="1300" dirty="0">
                <a:solidFill>
                  <a:srgbClr val="1A1A2E"/>
                </a:solidFill>
                <a:latin typeface="Calibri" pitchFamily="34" charset="0"/>
                <a:ea typeface="Calibri" pitchFamily="34" charset="-122"/>
                <a:cs typeface="Calibri" pitchFamily="34" charset="-120"/>
              </a:rPr>
              <a:t>The project is implemented using Microsoft Excel. The steps include data cleaning, creating pivot tables, and generating pie and bar charts.</a:t>
            </a:r>
          </a:p>
          <a:p>
            <a:endParaRPr lang="en-US" sz="1300" dirty="0">
              <a:solidFill>
                <a:srgbClr val="1A1A2E"/>
              </a:solidFill>
              <a:latin typeface="Calibri" pitchFamily="34" charset="0"/>
              <a:ea typeface="Calibri" pitchFamily="34" charset="-122"/>
              <a:cs typeface="Calibri" pitchFamily="34" charset="-120"/>
            </a:endParaRPr>
          </a:p>
          <a:p>
            <a:r>
              <a:rPr lang="en-US" sz="1300" dirty="0">
                <a:solidFill>
                  <a:srgbClr val="1A1A2E"/>
                </a:solidFill>
                <a:latin typeface="Calibri" pitchFamily="34" charset="0"/>
                <a:ea typeface="Calibri" pitchFamily="34" charset="-122"/>
                <a:cs typeface="Calibri" pitchFamily="34" charset="-120"/>
              </a:rPr>
              <a:t>This approach makes data analysis easy, improves visualization, and helps in identifying transaction patterns quickly compared to traditional methods.</a:t>
            </a: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txBody>
          <a:bodyPr/>
          <a:lstStyle/>
          <a:p>
            <a:endParaRPr lang="en-IN"/>
          </a:p>
        </p:txBody>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dirty="0" err="1">
                <a:solidFill>
                  <a:srgbClr val="4FC3F7"/>
                </a:solidFill>
                <a:latin typeface="Calibri" pitchFamily="34" charset="0"/>
                <a:ea typeface="Calibri" pitchFamily="34" charset="-122"/>
                <a:cs typeface="Calibri" pitchFamily="34" charset="-120"/>
              </a:rPr>
              <a:t>edunet</a:t>
            </a:r>
            <a:endParaRPr lang="en-US" sz="800" dirty="0"/>
          </a:p>
          <a:p>
            <a:pPr marL="0" indent="0" algn="r">
              <a:buNone/>
            </a:pPr>
            <a:r>
              <a:rPr lang="en-US" sz="800" b="1" dirty="0">
                <a:solidFill>
                  <a:srgbClr val="4FC3F7"/>
                </a:solidFill>
                <a:latin typeface="Calibri" pitchFamily="34" charset="0"/>
                <a:ea typeface="Calibri" pitchFamily="34" charset="-122"/>
                <a:cs typeface="Calibri" pitchFamily="34" charset="-120"/>
              </a:rPr>
              <a:t>foundation</a:t>
            </a:r>
            <a:endParaRPr lang="en-US" sz="800" dirty="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System Architecture</a:t>
            </a:r>
            <a:endParaRPr lang="en-US" sz="2200"/>
          </a:p>
        </p:txBody>
      </p:sp>
      <p:sp>
        <p:nvSpPr>
          <p:cNvPr id="5" name="Shape 3"/>
          <p:cNvSpPr/>
          <p:nvPr/>
        </p:nvSpPr>
        <p:spPr>
          <a:xfrm>
            <a:off x="0" y="4983480"/>
            <a:ext cx="9144000" cy="160020"/>
          </a:xfrm>
          <a:prstGeom prst="rect">
            <a:avLst/>
          </a:prstGeom>
          <a:solidFill>
            <a:srgbClr val="1B3A8A"/>
          </a:solidFill>
          <a:ln/>
        </p:spPr>
        <p:txBody>
          <a:bodyPr/>
          <a:lstStyle/>
          <a:p>
            <a:endParaRPr lang="en-IN"/>
          </a:p>
        </p:txBody>
      </p:sp>
      <p:sp>
        <p:nvSpPr>
          <p:cNvPr id="6" name="Shape 4"/>
          <p:cNvSpPr/>
          <p:nvPr/>
        </p:nvSpPr>
        <p:spPr>
          <a:xfrm>
            <a:off x="274320" y="1097280"/>
            <a:ext cx="4114800" cy="384048"/>
          </a:xfrm>
          <a:prstGeom prst="rect">
            <a:avLst/>
          </a:prstGeom>
          <a:solidFill>
            <a:srgbClr val="1565C0"/>
          </a:solidFill>
          <a:ln/>
        </p:spPr>
        <p:txBody>
          <a:bodyPr/>
          <a:lstStyle/>
          <a:p>
            <a:endParaRPr lang="en-IN"/>
          </a:p>
        </p:txBody>
      </p:sp>
      <p:sp>
        <p:nvSpPr>
          <p:cNvPr id="7" name="Shape 5"/>
          <p:cNvSpPr/>
          <p:nvPr/>
        </p:nvSpPr>
        <p:spPr>
          <a:xfrm>
            <a:off x="4206240" y="1097280"/>
            <a:ext cx="320040" cy="384048"/>
          </a:xfrm>
          <a:prstGeom prst="rect">
            <a:avLst/>
          </a:prstGeom>
          <a:solidFill>
            <a:srgbClr val="1B3A8A"/>
          </a:solidFill>
          <a:ln/>
        </p:spPr>
        <p:txBody>
          <a:bodyPr/>
          <a:lstStyle/>
          <a:p>
            <a:endParaRPr lang="en-IN"/>
          </a:p>
        </p:txBody>
      </p:sp>
      <p:sp>
        <p:nvSpPr>
          <p:cNvPr id="8" name="Text 6"/>
          <p:cNvSpPr/>
          <p:nvPr/>
        </p:nvSpPr>
        <p:spPr>
          <a:xfrm>
            <a:off x="365760" y="1133856"/>
            <a:ext cx="3840480" cy="31089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 Input / Source</a:t>
            </a:r>
            <a:endParaRPr lang="en-US" sz="1200" dirty="0"/>
          </a:p>
        </p:txBody>
      </p:sp>
      <p:sp>
        <p:nvSpPr>
          <p:cNvPr id="9" name="Text 7"/>
          <p:cNvSpPr/>
          <p:nvPr/>
        </p:nvSpPr>
        <p:spPr>
          <a:xfrm>
            <a:off x="365760" y="1554480"/>
            <a:ext cx="4023360" cy="1188720"/>
          </a:xfrm>
          <a:prstGeom prst="rect">
            <a:avLst/>
          </a:prstGeom>
          <a:noFill/>
          <a:ln/>
        </p:spPr>
        <p:txBody>
          <a:bodyPr wrap="square" rtlCol="0" anchor="t"/>
          <a:lstStyle/>
          <a:p>
            <a:pPr marL="0" indent="0">
              <a:buNone/>
            </a:pPr>
            <a:r>
              <a:rPr lang="en-US" sz="1150" dirty="0">
                <a:solidFill>
                  <a:srgbClr val="1A1A2E"/>
                </a:solidFill>
                <a:latin typeface="Calibri" pitchFamily="34" charset="0"/>
                <a:ea typeface="Calibri" pitchFamily="34" charset="-122"/>
                <a:cs typeface="Calibri" pitchFamily="34" charset="-120"/>
              </a:rPr>
              <a:t>The data is taken from a credit card transaction dataset, which includes details like transaction amount, payment method, product category, and device used</a:t>
            </a:r>
            <a:endParaRPr lang="en-US" sz="1150" dirty="0"/>
          </a:p>
        </p:txBody>
      </p:sp>
      <p:sp>
        <p:nvSpPr>
          <p:cNvPr id="10" name="Shape 8"/>
          <p:cNvSpPr/>
          <p:nvPr/>
        </p:nvSpPr>
        <p:spPr>
          <a:xfrm>
            <a:off x="4709160" y="1097280"/>
            <a:ext cx="4114800" cy="384048"/>
          </a:xfrm>
          <a:prstGeom prst="rect">
            <a:avLst/>
          </a:prstGeom>
          <a:solidFill>
            <a:srgbClr val="1565C0"/>
          </a:solidFill>
          <a:ln/>
        </p:spPr>
        <p:txBody>
          <a:bodyPr/>
          <a:lstStyle/>
          <a:p>
            <a:endParaRPr lang="en-IN"/>
          </a:p>
        </p:txBody>
      </p:sp>
      <p:sp>
        <p:nvSpPr>
          <p:cNvPr id="11" name="Shape 9"/>
          <p:cNvSpPr/>
          <p:nvPr/>
        </p:nvSpPr>
        <p:spPr>
          <a:xfrm>
            <a:off x="8641080" y="1097280"/>
            <a:ext cx="320040" cy="384048"/>
          </a:xfrm>
          <a:prstGeom prst="rect">
            <a:avLst/>
          </a:prstGeom>
          <a:solidFill>
            <a:srgbClr val="1B3A8A"/>
          </a:solidFill>
          <a:ln/>
        </p:spPr>
        <p:txBody>
          <a:bodyPr/>
          <a:lstStyle/>
          <a:p>
            <a:endParaRPr lang="en-IN"/>
          </a:p>
        </p:txBody>
      </p:sp>
      <p:sp>
        <p:nvSpPr>
          <p:cNvPr id="12" name="Text 10"/>
          <p:cNvSpPr/>
          <p:nvPr/>
        </p:nvSpPr>
        <p:spPr>
          <a:xfrm>
            <a:off x="4800600" y="1133856"/>
            <a:ext cx="3840480" cy="31089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Processing / Analysis</a:t>
            </a:r>
            <a:endParaRPr lang="en-US" sz="1200" dirty="0"/>
          </a:p>
        </p:txBody>
      </p:sp>
      <p:sp>
        <p:nvSpPr>
          <p:cNvPr id="13" name="Text 11"/>
          <p:cNvSpPr/>
          <p:nvPr/>
        </p:nvSpPr>
        <p:spPr>
          <a:xfrm>
            <a:off x="4800600" y="1554480"/>
            <a:ext cx="4023360" cy="1188720"/>
          </a:xfrm>
          <a:prstGeom prst="rect">
            <a:avLst/>
          </a:prstGeom>
          <a:noFill/>
          <a:ln/>
        </p:spPr>
        <p:txBody>
          <a:bodyPr wrap="square" rtlCol="0" anchor="t"/>
          <a:lstStyle/>
          <a:p>
            <a:pPr marL="0" indent="0">
              <a:buNone/>
            </a:pPr>
            <a:r>
              <a:rPr lang="en-US" sz="1150" dirty="0"/>
              <a:t>The data is cleaned by removing duplicates and organized in a structured format. Pivot tables are used to analyze the data</a:t>
            </a:r>
          </a:p>
        </p:txBody>
      </p:sp>
      <p:sp>
        <p:nvSpPr>
          <p:cNvPr id="14" name="Shape 12"/>
          <p:cNvSpPr/>
          <p:nvPr/>
        </p:nvSpPr>
        <p:spPr>
          <a:xfrm>
            <a:off x="274320" y="2926080"/>
            <a:ext cx="4114800" cy="384048"/>
          </a:xfrm>
          <a:prstGeom prst="rect">
            <a:avLst/>
          </a:prstGeom>
          <a:solidFill>
            <a:srgbClr val="1565C0"/>
          </a:solidFill>
          <a:ln/>
        </p:spPr>
        <p:txBody>
          <a:bodyPr/>
          <a:lstStyle/>
          <a:p>
            <a:endParaRPr lang="en-IN"/>
          </a:p>
        </p:txBody>
      </p:sp>
      <p:sp>
        <p:nvSpPr>
          <p:cNvPr id="15" name="Shape 13"/>
          <p:cNvSpPr/>
          <p:nvPr/>
        </p:nvSpPr>
        <p:spPr>
          <a:xfrm>
            <a:off x="4206240" y="2926080"/>
            <a:ext cx="320040" cy="384048"/>
          </a:xfrm>
          <a:prstGeom prst="rect">
            <a:avLst/>
          </a:prstGeom>
          <a:solidFill>
            <a:srgbClr val="1B3A8A"/>
          </a:solidFill>
          <a:ln/>
        </p:spPr>
        <p:txBody>
          <a:bodyPr/>
          <a:lstStyle/>
          <a:p>
            <a:endParaRPr lang="en-IN"/>
          </a:p>
        </p:txBody>
      </p:sp>
      <p:sp>
        <p:nvSpPr>
          <p:cNvPr id="16" name="Text 14"/>
          <p:cNvSpPr/>
          <p:nvPr/>
        </p:nvSpPr>
        <p:spPr>
          <a:xfrm>
            <a:off x="365760" y="2962656"/>
            <a:ext cx="3840480" cy="31089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AI / Tool Integration</a:t>
            </a:r>
            <a:endParaRPr lang="en-US" sz="1200" dirty="0"/>
          </a:p>
        </p:txBody>
      </p:sp>
      <p:sp>
        <p:nvSpPr>
          <p:cNvPr id="17" name="Text 15"/>
          <p:cNvSpPr/>
          <p:nvPr/>
        </p:nvSpPr>
        <p:spPr>
          <a:xfrm>
            <a:off x="365760" y="3383280"/>
            <a:ext cx="4023360" cy="1188720"/>
          </a:xfrm>
          <a:prstGeom prst="rect">
            <a:avLst/>
          </a:prstGeom>
          <a:noFill/>
          <a:ln/>
        </p:spPr>
        <p:txBody>
          <a:bodyPr wrap="square" rtlCol="0" anchor="t"/>
          <a:lstStyle/>
          <a:p>
            <a:pPr marL="0" indent="0">
              <a:buNone/>
            </a:pPr>
            <a:r>
              <a:rPr lang="en-US" sz="1150" dirty="0"/>
              <a:t>The project is implemented using Microsoft </a:t>
            </a:r>
          </a:p>
          <a:p>
            <a:pPr marL="0" indent="0">
              <a:buNone/>
            </a:pPr>
            <a:r>
              <a:rPr lang="en-US" sz="1150" dirty="0"/>
              <a:t>Excel for data analysis and visualizations</a:t>
            </a:r>
          </a:p>
        </p:txBody>
      </p:sp>
      <p:sp>
        <p:nvSpPr>
          <p:cNvPr id="18" name="Shape 16"/>
          <p:cNvSpPr/>
          <p:nvPr/>
        </p:nvSpPr>
        <p:spPr>
          <a:xfrm>
            <a:off x="4709160" y="2926080"/>
            <a:ext cx="4114800" cy="384048"/>
          </a:xfrm>
          <a:prstGeom prst="rect">
            <a:avLst/>
          </a:prstGeom>
          <a:solidFill>
            <a:srgbClr val="1565C0"/>
          </a:solidFill>
          <a:ln/>
        </p:spPr>
        <p:txBody>
          <a:bodyPr/>
          <a:lstStyle/>
          <a:p>
            <a:endParaRPr lang="en-IN"/>
          </a:p>
        </p:txBody>
      </p:sp>
      <p:sp>
        <p:nvSpPr>
          <p:cNvPr id="19" name="Shape 17"/>
          <p:cNvSpPr/>
          <p:nvPr/>
        </p:nvSpPr>
        <p:spPr>
          <a:xfrm>
            <a:off x="8641080" y="2926080"/>
            <a:ext cx="320040" cy="384048"/>
          </a:xfrm>
          <a:prstGeom prst="rect">
            <a:avLst/>
          </a:prstGeom>
          <a:solidFill>
            <a:srgbClr val="1B3A8A"/>
          </a:solidFill>
          <a:ln/>
        </p:spPr>
        <p:txBody>
          <a:bodyPr/>
          <a:lstStyle/>
          <a:p>
            <a:endParaRPr lang="en-IN"/>
          </a:p>
        </p:txBody>
      </p:sp>
      <p:sp>
        <p:nvSpPr>
          <p:cNvPr id="20" name="Text 18"/>
          <p:cNvSpPr/>
          <p:nvPr/>
        </p:nvSpPr>
        <p:spPr>
          <a:xfrm>
            <a:off x="4800600" y="2962656"/>
            <a:ext cx="3840480" cy="31089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Output / Dashboard</a:t>
            </a:r>
            <a:endParaRPr lang="en-US" sz="1200" dirty="0"/>
          </a:p>
        </p:txBody>
      </p:sp>
      <p:sp>
        <p:nvSpPr>
          <p:cNvPr id="21" name="Text 19"/>
          <p:cNvSpPr/>
          <p:nvPr/>
        </p:nvSpPr>
        <p:spPr>
          <a:xfrm>
            <a:off x="4800600" y="3383280"/>
            <a:ext cx="4023360" cy="1188720"/>
          </a:xfrm>
          <a:prstGeom prst="rect">
            <a:avLst/>
          </a:prstGeom>
          <a:noFill/>
          <a:ln/>
        </p:spPr>
        <p:txBody>
          <a:bodyPr wrap="square" rtlCol="0" anchor="t"/>
          <a:lstStyle/>
          <a:p>
            <a:pPr marL="0" indent="0">
              <a:buNone/>
            </a:pPr>
            <a:r>
              <a:rPr lang="en-US" sz="1150" dirty="0"/>
              <a:t>The final output is a dashboard consisting of pie charts and bar graphs that clearly represent transaction patterns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txBody>
          <a:bodyPr/>
          <a:lstStyle/>
          <a:p>
            <a:endParaRPr lang="en-IN"/>
          </a:p>
        </p:txBody>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dirty="0" err="1">
                <a:solidFill>
                  <a:srgbClr val="4FC3F7"/>
                </a:solidFill>
                <a:latin typeface="Calibri" pitchFamily="34" charset="0"/>
                <a:ea typeface="Calibri" pitchFamily="34" charset="-122"/>
                <a:cs typeface="Calibri" pitchFamily="34" charset="-120"/>
              </a:rPr>
              <a:t>edunet</a:t>
            </a:r>
            <a:endParaRPr lang="en-US" sz="800" dirty="0"/>
          </a:p>
          <a:p>
            <a:pPr marL="0" indent="0" algn="r">
              <a:buNone/>
            </a:pPr>
            <a:r>
              <a:rPr lang="en-US" sz="800" b="1" dirty="0">
                <a:solidFill>
                  <a:srgbClr val="4FC3F7"/>
                </a:solidFill>
                <a:latin typeface="Calibri" pitchFamily="34" charset="0"/>
                <a:ea typeface="Calibri" pitchFamily="34" charset="-122"/>
                <a:cs typeface="Calibri" pitchFamily="34" charset="-120"/>
              </a:rPr>
              <a:t>foundation</a:t>
            </a:r>
            <a:endParaRPr lang="en-US" sz="800" dirty="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Live Demo of Project</a:t>
            </a:r>
            <a:endParaRPr lang="en-US" sz="2200"/>
          </a:p>
        </p:txBody>
      </p:sp>
      <p:sp>
        <p:nvSpPr>
          <p:cNvPr id="5" name="Shape 3"/>
          <p:cNvSpPr/>
          <p:nvPr/>
        </p:nvSpPr>
        <p:spPr>
          <a:xfrm>
            <a:off x="0" y="4983480"/>
            <a:ext cx="9144000" cy="160020"/>
          </a:xfrm>
          <a:prstGeom prst="rect">
            <a:avLst/>
          </a:prstGeom>
          <a:solidFill>
            <a:srgbClr val="1B3A8A"/>
          </a:solidFill>
          <a:ln/>
        </p:spPr>
        <p:txBody>
          <a:bodyPr/>
          <a:lstStyle/>
          <a:p>
            <a:endParaRPr lang="en-IN"/>
          </a:p>
        </p:txBody>
      </p:sp>
      <p:sp>
        <p:nvSpPr>
          <p:cNvPr id="6" name="Text 4"/>
          <p:cNvSpPr/>
          <p:nvPr/>
        </p:nvSpPr>
        <p:spPr>
          <a:xfrm>
            <a:off x="365760" y="1115568"/>
            <a:ext cx="8412480" cy="320040"/>
          </a:xfrm>
          <a:prstGeom prst="rect">
            <a:avLst/>
          </a:prstGeom>
          <a:noFill/>
          <a:ln/>
        </p:spPr>
        <p:txBody>
          <a:bodyPr wrap="square" rtlCol="0" anchor="ctr"/>
          <a:lstStyle/>
          <a:p>
            <a:pPr marL="0" indent="0">
              <a:buNone/>
            </a:pPr>
            <a:r>
              <a:rPr lang="en-US" sz="1200" i="1" dirty="0">
                <a:solidFill>
                  <a:srgbClr val="607D8B"/>
                </a:solidFill>
                <a:latin typeface="Calibri" pitchFamily="34" charset="0"/>
                <a:ea typeface="Calibri" pitchFamily="34" charset="-122"/>
                <a:cs typeface="Calibri" pitchFamily="34" charset="-120"/>
              </a:rPr>
              <a:t>Here's the list of some demo screenshots / features of the project:</a:t>
            </a:r>
            <a:endParaRPr lang="en-US" sz="1200" dirty="0"/>
          </a:p>
        </p:txBody>
      </p:sp>
      <p:sp>
        <p:nvSpPr>
          <p:cNvPr id="7" name="Shape 5"/>
          <p:cNvSpPr/>
          <p:nvPr/>
        </p:nvSpPr>
        <p:spPr>
          <a:xfrm>
            <a:off x="978408" y="1463040"/>
            <a:ext cx="1371600" cy="1371600"/>
          </a:xfrm>
          <a:prstGeom prst="ellipse">
            <a:avLst/>
          </a:prstGeom>
          <a:solidFill>
            <a:srgbClr val="ECEFF1"/>
          </a:solidFill>
          <a:ln w="38100">
            <a:solidFill>
              <a:srgbClr val="FFFFFF"/>
            </a:solidFill>
            <a:prstDash val="solid"/>
          </a:ln>
        </p:spPr>
        <p:txBody>
          <a:bodyPr/>
          <a:lstStyle/>
          <a:p>
            <a:endParaRPr lang="en-IN"/>
          </a:p>
        </p:txBody>
      </p:sp>
      <p:sp>
        <p:nvSpPr>
          <p:cNvPr id="8" name="Text 6"/>
          <p:cNvSpPr/>
          <p:nvPr/>
        </p:nvSpPr>
        <p:spPr>
          <a:xfrm>
            <a:off x="978408"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9" name="Shape 7"/>
          <p:cNvSpPr/>
          <p:nvPr/>
        </p:nvSpPr>
        <p:spPr>
          <a:xfrm>
            <a:off x="274320" y="2011680"/>
            <a:ext cx="2788920" cy="2651760"/>
          </a:xfrm>
          <a:prstGeom prst="rect">
            <a:avLst/>
          </a:prstGeom>
          <a:solidFill>
            <a:srgbClr val="1565C0"/>
          </a:solidFill>
          <a:ln/>
          <a:effectLst>
            <a:outerShdw blurRad="101600" dist="38100" dir="8100000" algn="bl" rotWithShape="0">
              <a:srgbClr val="000000">
                <a:alpha val="15000"/>
              </a:srgbClr>
            </a:outerShdw>
          </a:effectLst>
        </p:spPr>
        <p:txBody>
          <a:bodyPr/>
          <a:lstStyle/>
          <a:p>
            <a:endParaRPr lang="en-IN"/>
          </a:p>
        </p:txBody>
      </p:sp>
      <p:sp>
        <p:nvSpPr>
          <p:cNvPr id="10" name="Text 8"/>
          <p:cNvSpPr/>
          <p:nvPr/>
        </p:nvSpPr>
        <p:spPr>
          <a:xfrm>
            <a:off x="258547" y="3419856"/>
            <a:ext cx="278892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Demo 1</a:t>
            </a:r>
          </a:p>
          <a:p>
            <a:pPr marL="0" indent="0" algn="ctr">
              <a:buNone/>
            </a:pPr>
            <a:r>
              <a:rPr lang="en-US" sz="1600" b="1" dirty="0">
                <a:solidFill>
                  <a:srgbClr val="FFFFFF"/>
                </a:solidFill>
                <a:latin typeface="Calibri" pitchFamily="34" charset="0"/>
                <a:ea typeface="Calibri" pitchFamily="34" charset="-122"/>
                <a:cs typeface="Calibri" pitchFamily="34" charset="-120"/>
              </a:rPr>
              <a:t>This demo shows the pivot table used to summarize transaction data based on product category and payment method. It helps in organizing and analyzing the data efficiently.</a:t>
            </a:r>
          </a:p>
        </p:txBody>
      </p:sp>
      <p:sp>
        <p:nvSpPr>
          <p:cNvPr id="11" name="Text 9"/>
          <p:cNvSpPr/>
          <p:nvPr/>
        </p:nvSpPr>
        <p:spPr>
          <a:xfrm>
            <a:off x="411480" y="3127248"/>
            <a:ext cx="2514600" cy="1371600"/>
          </a:xfrm>
          <a:prstGeom prst="rect">
            <a:avLst/>
          </a:prstGeom>
          <a:noFill/>
          <a:ln/>
        </p:spPr>
        <p:txBody>
          <a:bodyPr wrap="square" rtlCol="0" anchor="ctr"/>
          <a:lstStyle/>
          <a:p>
            <a:pPr marL="0" indent="0" algn="ctr">
              <a:buNone/>
            </a:pPr>
            <a:endParaRPr lang="en-US" sz="1050" dirty="0"/>
          </a:p>
        </p:txBody>
      </p:sp>
      <p:sp>
        <p:nvSpPr>
          <p:cNvPr id="12" name="Shape 10"/>
          <p:cNvSpPr/>
          <p:nvPr/>
        </p:nvSpPr>
        <p:spPr>
          <a:xfrm>
            <a:off x="3922776" y="1463040"/>
            <a:ext cx="1371600" cy="1371600"/>
          </a:xfrm>
          <a:prstGeom prst="ellipse">
            <a:avLst/>
          </a:prstGeom>
          <a:solidFill>
            <a:srgbClr val="ECEFF1"/>
          </a:solidFill>
          <a:ln w="38100">
            <a:solidFill>
              <a:srgbClr val="FFFFFF"/>
            </a:solidFill>
            <a:prstDash val="solid"/>
          </a:ln>
        </p:spPr>
        <p:txBody>
          <a:bodyPr/>
          <a:lstStyle/>
          <a:p>
            <a:endParaRPr lang="en-IN"/>
          </a:p>
        </p:txBody>
      </p:sp>
      <p:sp>
        <p:nvSpPr>
          <p:cNvPr id="13" name="Text 11"/>
          <p:cNvSpPr/>
          <p:nvPr/>
        </p:nvSpPr>
        <p:spPr>
          <a:xfrm>
            <a:off x="3922776"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14" name="Shape 12"/>
          <p:cNvSpPr/>
          <p:nvPr/>
        </p:nvSpPr>
        <p:spPr>
          <a:xfrm>
            <a:off x="3218688" y="2011680"/>
            <a:ext cx="2788920" cy="2651760"/>
          </a:xfrm>
          <a:prstGeom prst="rect">
            <a:avLst/>
          </a:prstGeom>
          <a:solidFill>
            <a:srgbClr val="1565C0"/>
          </a:solidFill>
          <a:ln/>
          <a:effectLst>
            <a:outerShdw blurRad="101600" dist="38100" dir="8100000" algn="bl" rotWithShape="0">
              <a:srgbClr val="000000">
                <a:alpha val="15000"/>
              </a:srgbClr>
            </a:outerShdw>
          </a:effectLst>
        </p:spPr>
        <p:txBody>
          <a:bodyPr/>
          <a:lstStyle/>
          <a:p>
            <a:endParaRPr lang="en-IN"/>
          </a:p>
        </p:txBody>
      </p:sp>
      <p:sp>
        <p:nvSpPr>
          <p:cNvPr id="15" name="Text 13"/>
          <p:cNvSpPr/>
          <p:nvPr/>
        </p:nvSpPr>
        <p:spPr>
          <a:xfrm>
            <a:off x="3200400" y="3179064"/>
            <a:ext cx="278892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Demo 2</a:t>
            </a:r>
            <a:br>
              <a:rPr lang="en-US" sz="1600" b="1" dirty="0">
                <a:solidFill>
                  <a:srgbClr val="FFFFFF"/>
                </a:solidFill>
                <a:latin typeface="Calibri" pitchFamily="34" charset="0"/>
                <a:ea typeface="Calibri" pitchFamily="34" charset="-122"/>
                <a:cs typeface="Calibri" pitchFamily="34" charset="-120"/>
              </a:rPr>
            </a:br>
            <a:r>
              <a:rPr lang="en-US" sz="1600" b="1" dirty="0">
                <a:solidFill>
                  <a:srgbClr val="FFFFFF"/>
                </a:solidFill>
                <a:latin typeface="Calibri" pitchFamily="34" charset="0"/>
                <a:ea typeface="Calibri" pitchFamily="34" charset="-122"/>
                <a:cs typeface="Calibri" pitchFamily="34" charset="-120"/>
              </a:rPr>
              <a:t>This demo displays the pie chart representing transaction amount by payment method. It clearly shows the distribution of transactions across different payment options</a:t>
            </a:r>
            <a:endParaRPr lang="en-US" sz="1600" dirty="0"/>
          </a:p>
        </p:txBody>
      </p:sp>
      <p:sp>
        <p:nvSpPr>
          <p:cNvPr id="16" name="Text 14"/>
          <p:cNvSpPr/>
          <p:nvPr/>
        </p:nvSpPr>
        <p:spPr>
          <a:xfrm>
            <a:off x="3355848" y="3127248"/>
            <a:ext cx="2514600" cy="1371600"/>
          </a:xfrm>
          <a:prstGeom prst="rect">
            <a:avLst/>
          </a:prstGeom>
          <a:noFill/>
          <a:ln/>
        </p:spPr>
        <p:txBody>
          <a:bodyPr wrap="square" rtlCol="0" anchor="ctr"/>
          <a:lstStyle/>
          <a:p>
            <a:pPr marL="0" indent="0" algn="ctr">
              <a:buNone/>
            </a:pPr>
            <a:endParaRPr lang="en-US" sz="1050" dirty="0"/>
          </a:p>
        </p:txBody>
      </p:sp>
      <p:sp>
        <p:nvSpPr>
          <p:cNvPr id="17" name="Shape 15"/>
          <p:cNvSpPr/>
          <p:nvPr/>
        </p:nvSpPr>
        <p:spPr>
          <a:xfrm>
            <a:off x="6867144" y="1463040"/>
            <a:ext cx="1371600" cy="1371600"/>
          </a:xfrm>
          <a:prstGeom prst="ellipse">
            <a:avLst/>
          </a:prstGeom>
          <a:solidFill>
            <a:srgbClr val="ECEFF1"/>
          </a:solidFill>
          <a:ln w="38100">
            <a:solidFill>
              <a:srgbClr val="FFFFFF"/>
            </a:solidFill>
            <a:prstDash val="solid"/>
          </a:ln>
        </p:spPr>
        <p:txBody>
          <a:bodyPr/>
          <a:lstStyle/>
          <a:p>
            <a:endParaRPr lang="en-IN"/>
          </a:p>
        </p:txBody>
      </p:sp>
      <p:sp>
        <p:nvSpPr>
          <p:cNvPr id="18" name="Text 16"/>
          <p:cNvSpPr/>
          <p:nvPr/>
        </p:nvSpPr>
        <p:spPr>
          <a:xfrm>
            <a:off x="6867144"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19" name="Shape 17"/>
          <p:cNvSpPr/>
          <p:nvPr/>
        </p:nvSpPr>
        <p:spPr>
          <a:xfrm>
            <a:off x="6163056" y="2011680"/>
            <a:ext cx="2788920" cy="2651760"/>
          </a:xfrm>
          <a:prstGeom prst="rect">
            <a:avLst/>
          </a:prstGeom>
          <a:solidFill>
            <a:srgbClr val="1565C0"/>
          </a:solidFill>
          <a:ln/>
          <a:effectLst>
            <a:outerShdw blurRad="101600" dist="38100" dir="8100000" algn="bl" rotWithShape="0">
              <a:srgbClr val="000000">
                <a:alpha val="15000"/>
              </a:srgbClr>
            </a:outerShdw>
          </a:effectLst>
        </p:spPr>
        <p:txBody>
          <a:bodyPr/>
          <a:lstStyle/>
          <a:p>
            <a:endParaRPr lang="en-IN"/>
          </a:p>
        </p:txBody>
      </p:sp>
      <p:sp>
        <p:nvSpPr>
          <p:cNvPr id="20" name="Text 18"/>
          <p:cNvSpPr/>
          <p:nvPr/>
        </p:nvSpPr>
        <p:spPr>
          <a:xfrm>
            <a:off x="6163056" y="3392424"/>
            <a:ext cx="278892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Demo 3</a:t>
            </a:r>
            <a:br>
              <a:rPr lang="en-US" sz="1600" b="1" dirty="0">
                <a:solidFill>
                  <a:srgbClr val="FFFFFF"/>
                </a:solidFill>
                <a:latin typeface="Calibri" pitchFamily="34" charset="0"/>
                <a:ea typeface="Calibri" pitchFamily="34" charset="-122"/>
                <a:cs typeface="Calibri" pitchFamily="34" charset="-120"/>
              </a:rPr>
            </a:br>
            <a:r>
              <a:rPr lang="en-US" sz="1600" b="1" dirty="0">
                <a:solidFill>
                  <a:srgbClr val="FFFFFF"/>
                </a:solidFill>
                <a:latin typeface="Calibri" pitchFamily="34" charset="0"/>
                <a:ea typeface="Calibri" pitchFamily="34" charset="-122"/>
                <a:cs typeface="Calibri" pitchFamily="34" charset="-120"/>
              </a:rPr>
              <a:t>This demo shows the bar graph representing transaction amount by product category. It helps in comparing spending patterns across different categories </a:t>
            </a:r>
            <a:endParaRPr lang="en-US" sz="1600" dirty="0"/>
          </a:p>
        </p:txBody>
      </p:sp>
      <p:sp>
        <p:nvSpPr>
          <p:cNvPr id="21" name="Text 19"/>
          <p:cNvSpPr/>
          <p:nvPr/>
        </p:nvSpPr>
        <p:spPr>
          <a:xfrm>
            <a:off x="6300216" y="3127248"/>
            <a:ext cx="2514600" cy="1371600"/>
          </a:xfrm>
          <a:prstGeom prst="rect">
            <a:avLst/>
          </a:prstGeom>
          <a:noFill/>
          <a:ln/>
        </p:spPr>
        <p:txBody>
          <a:bodyPr wrap="square" rtlCol="0" anchor="ctr"/>
          <a:lstStyle/>
          <a:p>
            <a:pPr marL="0" indent="0" algn="ctr">
              <a:buNone/>
            </a:pPr>
            <a:endParaRPr lang="en-US" sz="1050" dirty="0"/>
          </a:p>
        </p:txBody>
      </p:sp>
      <p:pic>
        <p:nvPicPr>
          <p:cNvPr id="23" name="Picture 22">
            <a:extLst>
              <a:ext uri="{FF2B5EF4-FFF2-40B4-BE49-F238E27FC236}">
                <a16:creationId xmlns:a16="http://schemas.microsoft.com/office/drawing/2014/main" id="{73A02FBF-92FB-B97C-84D3-AFEE7017A3B0}"/>
              </a:ext>
            </a:extLst>
          </p:cNvPr>
          <p:cNvPicPr>
            <a:picLocks noChangeAspect="1"/>
          </p:cNvPicPr>
          <p:nvPr/>
        </p:nvPicPr>
        <p:blipFill>
          <a:blip r:embed="rId3"/>
          <a:stretch>
            <a:fillRect/>
          </a:stretch>
        </p:blipFill>
        <p:spPr>
          <a:xfrm>
            <a:off x="258547" y="1427174"/>
            <a:ext cx="3081528" cy="1224586"/>
          </a:xfrm>
          <a:prstGeom prst="rect">
            <a:avLst/>
          </a:prstGeom>
        </p:spPr>
      </p:pic>
      <p:pic>
        <p:nvPicPr>
          <p:cNvPr id="27" name="Picture 26">
            <a:extLst>
              <a:ext uri="{FF2B5EF4-FFF2-40B4-BE49-F238E27FC236}">
                <a16:creationId xmlns:a16="http://schemas.microsoft.com/office/drawing/2014/main" id="{FDDA25B5-74BC-1AA1-03CB-A35D597A86B7}"/>
              </a:ext>
            </a:extLst>
          </p:cNvPr>
          <p:cNvPicPr>
            <a:picLocks noChangeAspect="1"/>
          </p:cNvPicPr>
          <p:nvPr/>
        </p:nvPicPr>
        <p:blipFill>
          <a:blip r:embed="rId4"/>
          <a:stretch>
            <a:fillRect/>
          </a:stretch>
        </p:blipFill>
        <p:spPr>
          <a:xfrm>
            <a:off x="5544312" y="1310640"/>
            <a:ext cx="3407664" cy="13825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txBody>
          <a:bodyPr/>
          <a:lstStyle/>
          <a:p>
            <a:endParaRPr lang="en-IN"/>
          </a:p>
        </p:txBody>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dirty="0" err="1">
                <a:solidFill>
                  <a:srgbClr val="4FC3F7"/>
                </a:solidFill>
                <a:latin typeface="Calibri" pitchFamily="34" charset="0"/>
                <a:ea typeface="Calibri" pitchFamily="34" charset="-122"/>
                <a:cs typeface="Calibri" pitchFamily="34" charset="-120"/>
              </a:rPr>
              <a:t>edunet</a:t>
            </a:r>
            <a:endParaRPr lang="en-US" sz="800" dirty="0"/>
          </a:p>
          <a:p>
            <a:pPr marL="0" indent="0" algn="r">
              <a:buNone/>
            </a:pPr>
            <a:r>
              <a:rPr lang="en-US" sz="800" b="1" dirty="0">
                <a:solidFill>
                  <a:srgbClr val="4FC3F7"/>
                </a:solidFill>
                <a:latin typeface="Calibri" pitchFamily="34" charset="0"/>
                <a:ea typeface="Calibri" pitchFamily="34" charset="-122"/>
                <a:cs typeface="Calibri" pitchFamily="34" charset="-120"/>
              </a:rPr>
              <a:t>foundation</a:t>
            </a:r>
            <a:endParaRPr lang="en-US" sz="800" dirty="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Video of Project Demo</a:t>
            </a:r>
            <a:endParaRPr lang="en-US" sz="2200"/>
          </a:p>
        </p:txBody>
      </p:sp>
      <p:sp>
        <p:nvSpPr>
          <p:cNvPr id="5" name="Shape 3"/>
          <p:cNvSpPr/>
          <p:nvPr/>
        </p:nvSpPr>
        <p:spPr>
          <a:xfrm>
            <a:off x="0" y="4983480"/>
            <a:ext cx="9144000" cy="160020"/>
          </a:xfrm>
          <a:prstGeom prst="rect">
            <a:avLst/>
          </a:prstGeom>
          <a:solidFill>
            <a:srgbClr val="1B3A8A"/>
          </a:solidFill>
          <a:ln/>
        </p:spPr>
        <p:txBody>
          <a:bodyPr/>
          <a:lstStyle/>
          <a:p>
            <a:endParaRPr lang="en-IN"/>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Credit Card Project Demo Video</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a:solidFill>
                  <a:srgbClr val="FFFFFF"/>
                </a:solidFill>
              </a:rPr>
              <a:t>▶</a:t>
            </a:r>
            <a:endParaRPr lang="en-US" sz="4800"/>
          </a:p>
        </p:txBody>
      </p:sp>
      <p:sp>
        <p:nvSpPr>
          <p:cNvPr id="15" name="Text 13"/>
          <p:cNvSpPr/>
          <p:nvPr/>
        </p:nvSpPr>
        <p:spPr>
          <a:xfrm>
            <a:off x="914400" y="3794760"/>
            <a:ext cx="7315200" cy="594360"/>
          </a:xfrm>
          <a:prstGeom prst="rect">
            <a:avLst/>
          </a:prstGeom>
          <a:noFill/>
          <a:ln/>
        </p:spPr>
        <p:txBody>
          <a:bodyPr wrap="square" rtlCol="0" anchor="ctr"/>
          <a:lstStyle/>
          <a:p>
            <a:pPr algn="ctr"/>
            <a:r>
              <a:rPr lang="en-US" sz="1100" dirty="0"/>
              <a:t>https://drive.google.com/file/d/1s8_ieI-9Rk0o4Ei39J8Kb03JbnR_rV15/view?usp=drivesdk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txBody>
          <a:bodyPr/>
          <a:lstStyle/>
          <a:p>
            <a:endParaRPr lang="en-IN"/>
          </a:p>
        </p:txBody>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dirty="0" err="1">
                <a:solidFill>
                  <a:srgbClr val="4FC3F7"/>
                </a:solidFill>
                <a:latin typeface="Calibri" pitchFamily="34" charset="0"/>
                <a:ea typeface="Calibri" pitchFamily="34" charset="-122"/>
                <a:cs typeface="Calibri" pitchFamily="34" charset="-120"/>
              </a:rPr>
              <a:t>edunet</a:t>
            </a:r>
            <a:endParaRPr lang="en-US" sz="800" dirty="0"/>
          </a:p>
          <a:p>
            <a:pPr marL="0" indent="0" algn="r">
              <a:buNone/>
            </a:pPr>
            <a:r>
              <a:rPr lang="en-US" sz="800" b="1" dirty="0">
                <a:solidFill>
                  <a:srgbClr val="4FC3F7"/>
                </a:solidFill>
                <a:latin typeface="Calibri" pitchFamily="34" charset="0"/>
                <a:ea typeface="Calibri" pitchFamily="34" charset="-122"/>
                <a:cs typeface="Calibri" pitchFamily="34" charset="-120"/>
              </a:rPr>
              <a:t>foundation</a:t>
            </a:r>
            <a:endParaRPr lang="en-US" sz="800" dirty="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Conclusion</a:t>
            </a:r>
            <a:endParaRPr lang="en-US" sz="2200"/>
          </a:p>
        </p:txBody>
      </p:sp>
      <p:sp>
        <p:nvSpPr>
          <p:cNvPr id="5" name="Shape 3"/>
          <p:cNvSpPr/>
          <p:nvPr/>
        </p:nvSpPr>
        <p:spPr>
          <a:xfrm>
            <a:off x="0" y="4983480"/>
            <a:ext cx="9144000" cy="160020"/>
          </a:xfrm>
          <a:prstGeom prst="rect">
            <a:avLst/>
          </a:prstGeom>
          <a:solidFill>
            <a:srgbClr val="1B3A8A"/>
          </a:solidFill>
          <a:ln/>
        </p:spPr>
        <p:txBody>
          <a:bodyPr/>
          <a:lstStyle/>
          <a:p>
            <a:endParaRPr lang="en-IN"/>
          </a:p>
        </p:txBody>
      </p:sp>
      <p:sp>
        <p:nvSpPr>
          <p:cNvPr id="6" name="Text 4"/>
          <p:cNvSpPr/>
          <p:nvPr/>
        </p:nvSpPr>
        <p:spPr>
          <a:xfrm>
            <a:off x="4754880" y="123444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Abstract of the Project</a:t>
            </a:r>
            <a:endParaRPr lang="en-US" sz="1150"/>
          </a:p>
        </p:txBody>
      </p:sp>
      <p:sp>
        <p:nvSpPr>
          <p:cNvPr id="7" name="Text 5"/>
          <p:cNvSpPr/>
          <p:nvPr/>
        </p:nvSpPr>
        <p:spPr>
          <a:xfrm>
            <a:off x="4754880" y="1636776"/>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Problem Statement</a:t>
            </a:r>
            <a:endParaRPr lang="en-US" sz="1150"/>
          </a:p>
        </p:txBody>
      </p:sp>
      <p:sp>
        <p:nvSpPr>
          <p:cNvPr id="8" name="Text 6"/>
          <p:cNvSpPr/>
          <p:nvPr/>
        </p:nvSpPr>
        <p:spPr>
          <a:xfrm>
            <a:off x="4754880" y="2039112"/>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Proposed Solution</a:t>
            </a:r>
            <a:endParaRPr lang="en-US" sz="1150"/>
          </a:p>
        </p:txBody>
      </p:sp>
      <p:sp>
        <p:nvSpPr>
          <p:cNvPr id="9" name="Text 7"/>
          <p:cNvSpPr/>
          <p:nvPr/>
        </p:nvSpPr>
        <p:spPr>
          <a:xfrm>
            <a:off x="4754880" y="2441448"/>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System Architecture</a:t>
            </a:r>
            <a:endParaRPr lang="en-US" sz="1150"/>
          </a:p>
        </p:txBody>
      </p:sp>
      <p:sp>
        <p:nvSpPr>
          <p:cNvPr id="10" name="Text 8"/>
          <p:cNvSpPr/>
          <p:nvPr/>
        </p:nvSpPr>
        <p:spPr>
          <a:xfrm>
            <a:off x="4754880" y="2843784"/>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Live Demo of the Project</a:t>
            </a:r>
            <a:endParaRPr lang="en-US" sz="1150"/>
          </a:p>
        </p:txBody>
      </p:sp>
      <p:sp>
        <p:nvSpPr>
          <p:cNvPr id="11" name="Text 9"/>
          <p:cNvSpPr/>
          <p:nvPr/>
        </p:nvSpPr>
        <p:spPr>
          <a:xfrm>
            <a:off x="4754880" y="324612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Embedded Video of Project</a:t>
            </a:r>
            <a:endParaRPr lang="en-US" sz="1150"/>
          </a:p>
        </p:txBody>
      </p:sp>
      <p:sp>
        <p:nvSpPr>
          <p:cNvPr id="12" name="Text 10"/>
          <p:cNvSpPr/>
          <p:nvPr/>
        </p:nvSpPr>
        <p:spPr>
          <a:xfrm>
            <a:off x="4754880" y="3648456"/>
            <a:ext cx="4206240" cy="384048"/>
          </a:xfrm>
          <a:prstGeom prst="rect">
            <a:avLst/>
          </a:prstGeom>
          <a:noFill/>
          <a:ln/>
        </p:spPr>
        <p:txBody>
          <a:bodyPr wrap="square" rtlCol="0" anchor="ctr"/>
          <a:lstStyle/>
          <a:p>
            <a:pPr marL="0" indent="0">
              <a:buNone/>
            </a:pPr>
            <a:r>
              <a:rPr lang="en-US" sz="1150" b="1">
                <a:solidFill>
                  <a:srgbClr val="1B3A8A"/>
                </a:solidFill>
                <a:latin typeface="Calibri" pitchFamily="34" charset="0"/>
                <a:ea typeface="Calibri" pitchFamily="34" charset="-122"/>
                <a:cs typeface="Calibri" pitchFamily="34" charset="-120"/>
              </a:rPr>
              <a:t>• Conclusion</a:t>
            </a:r>
            <a:endParaRPr lang="en-US" sz="1150"/>
          </a:p>
        </p:txBody>
      </p:sp>
      <p:sp>
        <p:nvSpPr>
          <p:cNvPr id="13" name="Text 11"/>
          <p:cNvSpPr/>
          <p:nvPr/>
        </p:nvSpPr>
        <p:spPr>
          <a:xfrm>
            <a:off x="4754880" y="4050792"/>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Future Scope</a:t>
            </a:r>
            <a:endParaRPr lang="en-US" sz="1150"/>
          </a:p>
        </p:txBody>
      </p:sp>
      <p:sp>
        <p:nvSpPr>
          <p:cNvPr id="14" name="Text 12"/>
          <p:cNvSpPr/>
          <p:nvPr/>
        </p:nvSpPr>
        <p:spPr>
          <a:xfrm>
            <a:off x="457200" y="1234440"/>
            <a:ext cx="4114800" cy="3474720"/>
          </a:xfrm>
          <a:prstGeom prst="rect">
            <a:avLst/>
          </a:prstGeom>
          <a:noFill/>
          <a:ln/>
        </p:spPr>
        <p:txBody>
          <a:bodyPr wrap="square" rtlCol="0" anchor="t"/>
          <a:lstStyle/>
          <a:p>
            <a:r>
              <a:rPr lang="en-US" sz="1300" dirty="0">
                <a:solidFill>
                  <a:srgbClr val="1A1A2E"/>
                </a:solidFill>
                <a:latin typeface="Calibri" pitchFamily="34" charset="0"/>
                <a:ea typeface="Calibri" pitchFamily="34" charset="-122"/>
                <a:cs typeface="Calibri" pitchFamily="34" charset="-120"/>
              </a:rPr>
              <a:t>This project successfully analyzes the usage of credit card transactional data using Microsoft Excel. The data was organized and visualized using pivot tables and charts to understand transaction patterns.</a:t>
            </a:r>
          </a:p>
          <a:p>
            <a:endParaRPr lang="en-US" sz="1300" dirty="0">
              <a:solidFill>
                <a:srgbClr val="1A1A2E"/>
              </a:solidFill>
              <a:latin typeface="Calibri" pitchFamily="34" charset="0"/>
              <a:ea typeface="Calibri" pitchFamily="34" charset="-122"/>
              <a:cs typeface="Calibri" pitchFamily="34" charset="-120"/>
            </a:endParaRPr>
          </a:p>
          <a:p>
            <a:r>
              <a:rPr lang="en-US" sz="1300" dirty="0">
                <a:solidFill>
                  <a:srgbClr val="1A1A2E"/>
                </a:solidFill>
                <a:latin typeface="Calibri" pitchFamily="34" charset="0"/>
                <a:ea typeface="Calibri" pitchFamily="34" charset="-122"/>
                <a:cs typeface="Calibri" pitchFamily="34" charset="-120"/>
              </a:rPr>
              <a:t>The key findings show how transaction amounts vary across different payment methods and product categories. The objectives of the project were achieved by creating a simple and clear dashboard.</a:t>
            </a:r>
          </a:p>
          <a:p>
            <a:endParaRPr lang="en-US" sz="1300" dirty="0">
              <a:solidFill>
                <a:srgbClr val="1A1A2E"/>
              </a:solidFill>
              <a:latin typeface="Calibri" pitchFamily="34" charset="0"/>
              <a:ea typeface="Calibri" pitchFamily="34" charset="-122"/>
              <a:cs typeface="Calibri" pitchFamily="34" charset="-120"/>
            </a:endParaRPr>
          </a:p>
          <a:p>
            <a:r>
              <a:rPr lang="en-US" sz="1300" dirty="0">
                <a:solidFill>
                  <a:srgbClr val="1A1A2E"/>
                </a:solidFill>
                <a:latin typeface="Calibri" pitchFamily="34" charset="0"/>
                <a:ea typeface="Calibri" pitchFamily="34" charset="-122"/>
                <a:cs typeface="Calibri" pitchFamily="34" charset="-120"/>
              </a:rPr>
              <a:t>This project adds value by making data analysis easy to understand through visual representation.</a:t>
            </a:r>
            <a:endParaRPr lang="en-US" sz="1300" dirty="0"/>
          </a:p>
        </p:txBody>
      </p:sp>
      <p:sp>
        <p:nvSpPr>
          <p:cNvPr id="15" name="Shape 13"/>
          <p:cNvSpPr/>
          <p:nvPr/>
        </p:nvSpPr>
        <p:spPr>
          <a:xfrm>
            <a:off x="4846320" y="777240"/>
            <a:ext cx="3931920" cy="3931920"/>
          </a:xfrm>
          <a:prstGeom prst="rect">
            <a:avLst/>
          </a:prstGeom>
          <a:solidFill>
            <a:srgbClr val="F7F9FC"/>
          </a:solidFill>
          <a:ln w="12700">
            <a:solidFill>
              <a:srgbClr val="ECEFF1"/>
            </a:solidFill>
            <a:prstDash val="solid"/>
          </a:ln>
        </p:spPr>
        <p:txBody>
          <a:bodyPr/>
          <a:lstStyle/>
          <a:p>
            <a:endParaRPr lang="en-IN"/>
          </a:p>
        </p:txBody>
      </p:sp>
      <p:sp>
        <p:nvSpPr>
          <p:cNvPr id="16" name="Shape 14"/>
          <p:cNvSpPr/>
          <p:nvPr/>
        </p:nvSpPr>
        <p:spPr>
          <a:xfrm>
            <a:off x="5394960" y="1005840"/>
            <a:ext cx="2834640" cy="2834640"/>
          </a:xfrm>
          <a:prstGeom prst="ellipse">
            <a:avLst/>
          </a:prstGeom>
          <a:solidFill>
            <a:srgbClr val="1B3A8A"/>
          </a:solidFill>
          <a:ln/>
        </p:spPr>
        <p:txBody>
          <a:bodyPr/>
          <a:lstStyle/>
          <a:p>
            <a:endParaRPr lang="en-IN"/>
          </a:p>
        </p:txBody>
      </p:sp>
      <p:sp>
        <p:nvSpPr>
          <p:cNvPr id="17" name="Text 15"/>
          <p:cNvSpPr/>
          <p:nvPr/>
        </p:nvSpPr>
        <p:spPr>
          <a:xfrm>
            <a:off x="5394960" y="1005840"/>
            <a:ext cx="2834640" cy="2194560"/>
          </a:xfrm>
          <a:prstGeom prst="rect">
            <a:avLst/>
          </a:prstGeom>
          <a:noFill/>
          <a:ln/>
        </p:spPr>
        <p:txBody>
          <a:bodyPr wrap="square" rtlCol="0" anchor="ctr"/>
          <a:lstStyle/>
          <a:p>
            <a:pPr marL="0" indent="0" algn="ctr">
              <a:buNone/>
            </a:pPr>
            <a:r>
              <a:rPr lang="en-US" sz="6000" dirty="0">
                <a:solidFill>
                  <a:srgbClr val="000000"/>
                </a:solidFill>
              </a:rPr>
              <a:t>✅</a:t>
            </a:r>
            <a:endParaRPr lang="en-US" sz="6000" dirty="0"/>
          </a:p>
        </p:txBody>
      </p:sp>
      <p:sp>
        <p:nvSpPr>
          <p:cNvPr id="18" name="Shape 16"/>
          <p:cNvSpPr/>
          <p:nvPr/>
        </p:nvSpPr>
        <p:spPr>
          <a:xfrm>
            <a:off x="5303520" y="3474720"/>
            <a:ext cx="3017520" cy="502920"/>
          </a:xfrm>
          <a:prstGeom prst="rect">
            <a:avLst/>
          </a:prstGeom>
          <a:solidFill>
            <a:srgbClr val="1565C0"/>
          </a:solidFill>
          <a:ln/>
        </p:spPr>
        <p:txBody>
          <a:bodyPr/>
          <a:lstStyle/>
          <a:p>
            <a:endParaRPr lang="en-IN"/>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a:solidFill>
                  <a:srgbClr val="FFFFFF"/>
                </a:solidFill>
                <a:latin typeface="Calibri" pitchFamily="34" charset="0"/>
                <a:ea typeface="Calibri" pitchFamily="34" charset="-122"/>
                <a:cs typeface="Calibri" pitchFamily="34" charset="-120"/>
              </a:rPr>
              <a:t>CONCLUSION</a:t>
            </a:r>
            <a:endParaRPr lang="en-US"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txBody>
          <a:bodyPr/>
          <a:lstStyle/>
          <a:p>
            <a:endParaRPr lang="en-IN"/>
          </a:p>
        </p:txBody>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dirty="0" err="1">
                <a:solidFill>
                  <a:srgbClr val="4FC3F7"/>
                </a:solidFill>
                <a:latin typeface="Calibri" pitchFamily="34" charset="0"/>
                <a:ea typeface="Calibri" pitchFamily="34" charset="-122"/>
                <a:cs typeface="Calibri" pitchFamily="34" charset="-120"/>
              </a:rPr>
              <a:t>edunet</a:t>
            </a:r>
            <a:endParaRPr lang="en-US" sz="800" dirty="0"/>
          </a:p>
          <a:p>
            <a:pPr marL="0" indent="0" algn="r">
              <a:buNone/>
            </a:pPr>
            <a:r>
              <a:rPr lang="en-US" sz="800" b="1" dirty="0">
                <a:solidFill>
                  <a:srgbClr val="4FC3F7"/>
                </a:solidFill>
                <a:latin typeface="Calibri" pitchFamily="34" charset="0"/>
                <a:ea typeface="Calibri" pitchFamily="34" charset="-122"/>
                <a:cs typeface="Calibri" pitchFamily="34" charset="-120"/>
              </a:rPr>
              <a:t>foundation</a:t>
            </a:r>
            <a:endParaRPr lang="en-US" sz="800" dirty="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Future Scope</a:t>
            </a:r>
            <a:endParaRPr lang="en-US" sz="2200"/>
          </a:p>
        </p:txBody>
      </p:sp>
      <p:sp>
        <p:nvSpPr>
          <p:cNvPr id="5" name="Shape 3"/>
          <p:cNvSpPr/>
          <p:nvPr/>
        </p:nvSpPr>
        <p:spPr>
          <a:xfrm>
            <a:off x="0" y="4983480"/>
            <a:ext cx="9144000" cy="160020"/>
          </a:xfrm>
          <a:prstGeom prst="rect">
            <a:avLst/>
          </a:prstGeom>
          <a:solidFill>
            <a:srgbClr val="1B3A8A"/>
          </a:solidFill>
          <a:ln/>
        </p:spPr>
        <p:txBody>
          <a:bodyPr/>
          <a:lstStyle/>
          <a:p>
            <a:endParaRPr lang="en-IN"/>
          </a:p>
        </p:txBody>
      </p:sp>
      <p:sp>
        <p:nvSpPr>
          <p:cNvPr id="6" name="Text 4"/>
          <p:cNvSpPr/>
          <p:nvPr/>
        </p:nvSpPr>
        <p:spPr>
          <a:xfrm>
            <a:off x="4754880" y="123444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Abstract of the Project</a:t>
            </a:r>
            <a:endParaRPr lang="en-US" sz="1150"/>
          </a:p>
        </p:txBody>
      </p:sp>
      <p:sp>
        <p:nvSpPr>
          <p:cNvPr id="7" name="Text 5"/>
          <p:cNvSpPr/>
          <p:nvPr/>
        </p:nvSpPr>
        <p:spPr>
          <a:xfrm>
            <a:off x="4754880" y="1636776"/>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Problem Statement</a:t>
            </a:r>
            <a:endParaRPr lang="en-US" sz="1150"/>
          </a:p>
        </p:txBody>
      </p:sp>
      <p:sp>
        <p:nvSpPr>
          <p:cNvPr id="8" name="Text 6"/>
          <p:cNvSpPr/>
          <p:nvPr/>
        </p:nvSpPr>
        <p:spPr>
          <a:xfrm>
            <a:off x="4754880" y="2039112"/>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Proposed Solution</a:t>
            </a:r>
            <a:endParaRPr lang="en-US" sz="1150"/>
          </a:p>
        </p:txBody>
      </p:sp>
      <p:sp>
        <p:nvSpPr>
          <p:cNvPr id="9" name="Text 7"/>
          <p:cNvSpPr/>
          <p:nvPr/>
        </p:nvSpPr>
        <p:spPr>
          <a:xfrm>
            <a:off x="4754880" y="2441448"/>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System Architecture</a:t>
            </a:r>
            <a:endParaRPr lang="en-US" sz="1150"/>
          </a:p>
        </p:txBody>
      </p:sp>
      <p:sp>
        <p:nvSpPr>
          <p:cNvPr id="10" name="Text 8"/>
          <p:cNvSpPr/>
          <p:nvPr/>
        </p:nvSpPr>
        <p:spPr>
          <a:xfrm>
            <a:off x="4754880" y="2843784"/>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Live Demo of the Project</a:t>
            </a:r>
            <a:endParaRPr lang="en-US" sz="1150"/>
          </a:p>
        </p:txBody>
      </p:sp>
      <p:sp>
        <p:nvSpPr>
          <p:cNvPr id="11" name="Text 9"/>
          <p:cNvSpPr/>
          <p:nvPr/>
        </p:nvSpPr>
        <p:spPr>
          <a:xfrm>
            <a:off x="4754880" y="3246120"/>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Embedded Video of Project</a:t>
            </a:r>
            <a:endParaRPr lang="en-US" sz="1150"/>
          </a:p>
        </p:txBody>
      </p:sp>
      <p:sp>
        <p:nvSpPr>
          <p:cNvPr id="12" name="Text 10"/>
          <p:cNvSpPr/>
          <p:nvPr/>
        </p:nvSpPr>
        <p:spPr>
          <a:xfrm>
            <a:off x="4754880" y="3648456"/>
            <a:ext cx="4206240" cy="384048"/>
          </a:xfrm>
          <a:prstGeom prst="rect">
            <a:avLst/>
          </a:prstGeom>
          <a:noFill/>
          <a:ln/>
        </p:spPr>
        <p:txBody>
          <a:bodyPr wrap="square" rtlCol="0" anchor="ctr"/>
          <a:lstStyle/>
          <a:p>
            <a:pPr marL="0" indent="0">
              <a:buNone/>
            </a:pPr>
            <a:r>
              <a:rPr lang="en-US" sz="1150">
                <a:solidFill>
                  <a:srgbClr val="1565C0"/>
                </a:solidFill>
                <a:latin typeface="Calibri" pitchFamily="34" charset="0"/>
                <a:ea typeface="Calibri" pitchFamily="34" charset="-122"/>
                <a:cs typeface="Calibri" pitchFamily="34" charset="-120"/>
              </a:rPr>
              <a:t>• </a:t>
            </a:r>
            <a:r>
              <a:rPr lang="en-US" sz="1150">
                <a:solidFill>
                  <a:srgbClr val="607D8B"/>
                </a:solidFill>
                <a:latin typeface="Calibri" pitchFamily="34" charset="0"/>
                <a:ea typeface="Calibri" pitchFamily="34" charset="-122"/>
                <a:cs typeface="Calibri" pitchFamily="34" charset="-120"/>
              </a:rPr>
              <a:t>Conclusion</a:t>
            </a:r>
            <a:endParaRPr lang="en-US" sz="1150"/>
          </a:p>
        </p:txBody>
      </p:sp>
      <p:sp>
        <p:nvSpPr>
          <p:cNvPr id="13" name="Text 11"/>
          <p:cNvSpPr/>
          <p:nvPr/>
        </p:nvSpPr>
        <p:spPr>
          <a:xfrm>
            <a:off x="4754880" y="4050792"/>
            <a:ext cx="4206240" cy="384048"/>
          </a:xfrm>
          <a:prstGeom prst="rect">
            <a:avLst/>
          </a:prstGeom>
          <a:noFill/>
          <a:ln/>
        </p:spPr>
        <p:txBody>
          <a:bodyPr wrap="square" rtlCol="0" anchor="ctr"/>
          <a:lstStyle/>
          <a:p>
            <a:pPr marL="0" indent="0">
              <a:buNone/>
            </a:pPr>
            <a:r>
              <a:rPr lang="en-US" sz="1150" b="1">
                <a:solidFill>
                  <a:srgbClr val="1B3A8A"/>
                </a:solidFill>
                <a:latin typeface="Calibri" pitchFamily="34" charset="0"/>
                <a:ea typeface="Calibri" pitchFamily="34" charset="-122"/>
                <a:cs typeface="Calibri" pitchFamily="34" charset="-120"/>
              </a:rPr>
              <a:t>• Future Scope</a:t>
            </a:r>
            <a:endParaRPr lang="en-US" sz="1150"/>
          </a:p>
        </p:txBody>
      </p:sp>
      <p:sp>
        <p:nvSpPr>
          <p:cNvPr id="14" name="Text 12"/>
          <p:cNvSpPr/>
          <p:nvPr/>
        </p:nvSpPr>
        <p:spPr>
          <a:xfrm>
            <a:off x="457200" y="1234440"/>
            <a:ext cx="4114800" cy="3474720"/>
          </a:xfrm>
          <a:prstGeom prst="rect">
            <a:avLst/>
          </a:prstGeom>
          <a:noFill/>
          <a:ln/>
        </p:spPr>
        <p:txBody>
          <a:bodyPr wrap="square" rtlCol="0" anchor="t"/>
          <a:lstStyle/>
          <a:p>
            <a:r>
              <a:rPr lang="en-US" sz="1300" dirty="0">
                <a:solidFill>
                  <a:srgbClr val="1A1A2E"/>
                </a:solidFill>
                <a:latin typeface="Calibri" pitchFamily="34" charset="0"/>
                <a:ea typeface="Calibri" pitchFamily="34" charset="-122"/>
                <a:cs typeface="Calibri" pitchFamily="34" charset="-120"/>
              </a:rPr>
              <a:t>In the future, this project can be enhanced by adding more detailed analysis such as customer behavior and fraud detection. Advanced tools like Power BI can be used for better visualization and interactive dashboards.</a:t>
            </a:r>
          </a:p>
          <a:p>
            <a:endParaRPr lang="en-US" sz="1300" dirty="0">
              <a:solidFill>
                <a:srgbClr val="1A1A2E"/>
              </a:solidFill>
              <a:latin typeface="Calibri" pitchFamily="34" charset="0"/>
              <a:ea typeface="Calibri" pitchFamily="34" charset="-122"/>
              <a:cs typeface="Calibri" pitchFamily="34" charset="-120"/>
            </a:endParaRPr>
          </a:p>
          <a:p>
            <a:r>
              <a:rPr lang="en-US" sz="1300" dirty="0">
                <a:solidFill>
                  <a:srgbClr val="1A1A2E"/>
                </a:solidFill>
                <a:latin typeface="Calibri" pitchFamily="34" charset="0"/>
                <a:ea typeface="Calibri" pitchFamily="34" charset="-122"/>
                <a:cs typeface="Calibri" pitchFamily="34" charset="-120"/>
              </a:rPr>
              <a:t>The project can also be expanded by using larger datasets and integrating real-time data for more accurate analysis. Additional features like automated reports and advanced filtering can further improve the system.</a:t>
            </a:r>
            <a:endParaRPr lang="en-US" sz="1300" dirty="0"/>
          </a:p>
        </p:txBody>
      </p:sp>
      <p:sp>
        <p:nvSpPr>
          <p:cNvPr id="15" name="Shape 13"/>
          <p:cNvSpPr/>
          <p:nvPr/>
        </p:nvSpPr>
        <p:spPr>
          <a:xfrm>
            <a:off x="4846320" y="777240"/>
            <a:ext cx="3931920" cy="3931920"/>
          </a:xfrm>
          <a:prstGeom prst="rect">
            <a:avLst/>
          </a:prstGeom>
          <a:solidFill>
            <a:srgbClr val="F7F9FC"/>
          </a:solidFill>
          <a:ln w="12700">
            <a:solidFill>
              <a:srgbClr val="ECEFF1"/>
            </a:solidFill>
            <a:prstDash val="solid"/>
          </a:ln>
        </p:spPr>
        <p:txBody>
          <a:bodyPr/>
          <a:lstStyle/>
          <a:p>
            <a:endParaRPr lang="en-IN"/>
          </a:p>
        </p:txBody>
      </p:sp>
      <p:sp>
        <p:nvSpPr>
          <p:cNvPr id="16" name="Text 14"/>
          <p:cNvSpPr/>
          <p:nvPr/>
        </p:nvSpPr>
        <p:spPr>
          <a:xfrm>
            <a:off x="4846320" y="914400"/>
            <a:ext cx="3931920" cy="2926080"/>
          </a:xfrm>
          <a:prstGeom prst="rect">
            <a:avLst/>
          </a:prstGeom>
          <a:noFill/>
          <a:ln/>
        </p:spPr>
        <p:txBody>
          <a:bodyPr wrap="square" rtlCol="0" anchor="ctr"/>
          <a:lstStyle/>
          <a:p>
            <a:pPr marL="0" indent="0" algn="ctr">
              <a:buNone/>
            </a:pPr>
            <a:endParaRPr lang="en-US" sz="10000" dirty="0"/>
          </a:p>
        </p:txBody>
      </p:sp>
      <p:sp>
        <p:nvSpPr>
          <p:cNvPr id="17" name="Text 15"/>
          <p:cNvSpPr/>
          <p:nvPr/>
        </p:nvSpPr>
        <p:spPr>
          <a:xfrm>
            <a:off x="4846320" y="3703320"/>
            <a:ext cx="3931920" cy="320040"/>
          </a:xfrm>
          <a:prstGeom prst="rect">
            <a:avLst/>
          </a:prstGeom>
          <a:noFill/>
          <a:ln/>
        </p:spPr>
        <p:txBody>
          <a:bodyPr wrap="square" rtlCol="0" anchor="ctr"/>
          <a:lstStyle/>
          <a:p>
            <a:pPr marL="0" indent="0" algn="ctr">
              <a:buNone/>
            </a:pPr>
            <a:r>
              <a:rPr lang="en-US" sz="1000" i="1" dirty="0">
                <a:solidFill>
                  <a:srgbClr val="607D8B"/>
                </a:solidFill>
                <a:latin typeface="Calibri" pitchFamily="34" charset="0"/>
                <a:ea typeface="Calibri" pitchFamily="34" charset="-122"/>
                <a:cs typeface="Calibri" pitchFamily="34" charset="-120"/>
              </a:rPr>
              <a:t>[Future ideas &amp; roadmap]</a:t>
            </a:r>
            <a:endParaRPr lang="en-US" sz="1000" dirty="0"/>
          </a:p>
        </p:txBody>
      </p:sp>
      <p:sp>
        <p:nvSpPr>
          <p:cNvPr id="18" name="Rectangle 17">
            <a:extLst>
              <a:ext uri="{FF2B5EF4-FFF2-40B4-BE49-F238E27FC236}">
                <a16:creationId xmlns:a16="http://schemas.microsoft.com/office/drawing/2014/main" id="{CF58520F-F6C4-7C1B-FEB1-C0B55EE22C9C}"/>
              </a:ext>
            </a:extLst>
          </p:cNvPr>
          <p:cNvSpPr/>
          <p:nvPr/>
        </p:nvSpPr>
        <p:spPr>
          <a:xfrm>
            <a:off x="5084063" y="988665"/>
            <a:ext cx="1317625" cy="102190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Step 1:</a:t>
            </a:r>
          </a:p>
          <a:p>
            <a:pPr algn="ctr"/>
            <a:r>
              <a:rPr lang="en-US" dirty="0"/>
              <a:t>Improve dataset</a:t>
            </a:r>
            <a:endParaRPr lang="en-IN" dirty="0"/>
          </a:p>
        </p:txBody>
      </p:sp>
      <p:sp>
        <p:nvSpPr>
          <p:cNvPr id="25" name="Rectangle 24">
            <a:extLst>
              <a:ext uri="{FF2B5EF4-FFF2-40B4-BE49-F238E27FC236}">
                <a16:creationId xmlns:a16="http://schemas.microsoft.com/office/drawing/2014/main" id="{C4CF82F7-5D07-13FA-FE2D-3FDB50EDC8BD}"/>
              </a:ext>
            </a:extLst>
          </p:cNvPr>
          <p:cNvSpPr/>
          <p:nvPr/>
        </p:nvSpPr>
        <p:spPr>
          <a:xfrm>
            <a:off x="7028687" y="1008065"/>
            <a:ext cx="1317625" cy="102190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Step 2: Add Advanced Analysis</a:t>
            </a:r>
            <a:endParaRPr lang="en-IN" dirty="0"/>
          </a:p>
        </p:txBody>
      </p:sp>
      <p:sp>
        <p:nvSpPr>
          <p:cNvPr id="26" name="Rectangle 25">
            <a:extLst>
              <a:ext uri="{FF2B5EF4-FFF2-40B4-BE49-F238E27FC236}">
                <a16:creationId xmlns:a16="http://schemas.microsoft.com/office/drawing/2014/main" id="{1840AAF7-FF7C-ED3C-019D-15886EF5C936}"/>
              </a:ext>
            </a:extLst>
          </p:cNvPr>
          <p:cNvSpPr/>
          <p:nvPr/>
        </p:nvSpPr>
        <p:spPr>
          <a:xfrm>
            <a:off x="5084063" y="2467768"/>
            <a:ext cx="1317625" cy="102190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Step 4:</a:t>
            </a:r>
          </a:p>
          <a:p>
            <a:pPr algn="ctr"/>
            <a:r>
              <a:rPr lang="en-US" dirty="0"/>
              <a:t>Real-Time Dashboard</a:t>
            </a:r>
          </a:p>
        </p:txBody>
      </p:sp>
      <p:sp>
        <p:nvSpPr>
          <p:cNvPr id="27" name="Rectangle 26">
            <a:extLst>
              <a:ext uri="{FF2B5EF4-FFF2-40B4-BE49-F238E27FC236}">
                <a16:creationId xmlns:a16="http://schemas.microsoft.com/office/drawing/2014/main" id="{B0F0BCCF-612D-73DE-8858-5D4D7A6C4885}"/>
              </a:ext>
            </a:extLst>
          </p:cNvPr>
          <p:cNvSpPr/>
          <p:nvPr/>
        </p:nvSpPr>
        <p:spPr>
          <a:xfrm>
            <a:off x="7028687" y="2469992"/>
            <a:ext cx="1317625" cy="1021903"/>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Step 3:</a:t>
            </a:r>
          </a:p>
          <a:p>
            <a:pPr algn="ctr"/>
            <a:r>
              <a:rPr lang="en-US" dirty="0"/>
              <a:t>Use Power BI</a:t>
            </a:r>
            <a:endParaRPr lang="en-IN" dirty="0"/>
          </a:p>
        </p:txBody>
      </p:sp>
      <p:cxnSp>
        <p:nvCxnSpPr>
          <p:cNvPr id="29" name="Straight Arrow Connector 28">
            <a:extLst>
              <a:ext uri="{FF2B5EF4-FFF2-40B4-BE49-F238E27FC236}">
                <a16:creationId xmlns:a16="http://schemas.microsoft.com/office/drawing/2014/main" id="{16D93CA2-BA58-AF9B-61A4-FE80D06602B7}"/>
              </a:ext>
            </a:extLst>
          </p:cNvPr>
          <p:cNvCxnSpPr/>
          <p:nvPr/>
        </p:nvCxnSpPr>
        <p:spPr>
          <a:xfrm>
            <a:off x="6401688" y="1426464"/>
            <a:ext cx="62699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5A6E3F27-B31A-D5EC-01E0-D273111D466D}"/>
              </a:ext>
            </a:extLst>
          </p:cNvPr>
          <p:cNvCxnSpPr>
            <a:cxnSpLocks/>
          </p:cNvCxnSpPr>
          <p:nvPr/>
        </p:nvCxnSpPr>
        <p:spPr>
          <a:xfrm>
            <a:off x="7687499" y="2039112"/>
            <a:ext cx="0" cy="4259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D527C820-3032-2281-8D08-59B752229643}"/>
              </a:ext>
            </a:extLst>
          </p:cNvPr>
          <p:cNvCxnSpPr>
            <a:cxnSpLocks/>
            <a:stCxn id="27" idx="1"/>
            <a:endCxn id="26" idx="3"/>
          </p:cNvCxnSpPr>
          <p:nvPr/>
        </p:nvCxnSpPr>
        <p:spPr>
          <a:xfrm flipH="1" flipV="1">
            <a:off x="6401688" y="2978720"/>
            <a:ext cx="626999" cy="22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txBody>
          <a:bodyPr/>
          <a:lstStyle/>
          <a:p>
            <a:endParaRPr lang="en-IN"/>
          </a:p>
        </p:txBody>
      </p:sp>
      <p:sp>
        <p:nvSpPr>
          <p:cNvPr id="3" name="Text 1"/>
          <p:cNvSpPr/>
          <p:nvPr/>
        </p:nvSpPr>
        <p:spPr>
          <a:xfrm>
            <a:off x="6305973" y="45720"/>
            <a:ext cx="2746587" cy="411480"/>
          </a:xfrm>
          <a:prstGeom prst="rect">
            <a:avLst/>
          </a:prstGeom>
          <a:noFill/>
          <a:ln/>
        </p:spPr>
        <p:txBody>
          <a:bodyPr wrap="square" rtlCol="0" anchor="ctr"/>
          <a:lstStyle/>
          <a:p>
            <a:pPr marL="0" indent="0" algn="r">
              <a:buNone/>
            </a:pPr>
            <a:r>
              <a:rPr lang="en-US" sz="800" b="1" dirty="0" err="1">
                <a:solidFill>
                  <a:srgbClr val="4FC3F7"/>
                </a:solidFill>
                <a:latin typeface="Calibri" pitchFamily="34" charset="0"/>
                <a:ea typeface="Calibri" pitchFamily="34" charset="-122"/>
                <a:cs typeface="Calibri" pitchFamily="34" charset="-120"/>
              </a:rPr>
              <a:t>edunet</a:t>
            </a:r>
            <a:endParaRPr lang="en-US" sz="800" dirty="0"/>
          </a:p>
          <a:p>
            <a:pPr marL="0" indent="0" algn="r">
              <a:buNone/>
            </a:pPr>
            <a:r>
              <a:rPr lang="en-US" sz="800" b="1" dirty="0">
                <a:solidFill>
                  <a:srgbClr val="4FC3F7"/>
                </a:solidFill>
                <a:latin typeface="Calibri" pitchFamily="34" charset="0"/>
                <a:ea typeface="Calibri" pitchFamily="34" charset="-122"/>
                <a:cs typeface="Calibri" pitchFamily="34" charset="-120"/>
              </a:rPr>
              <a:t>foundation</a:t>
            </a:r>
            <a:endParaRPr lang="en-US" sz="800" dirty="0"/>
          </a:p>
        </p:txBody>
      </p:sp>
      <p:sp>
        <p:nvSpPr>
          <p:cNvPr id="4" name="Text 2"/>
          <p:cNvSpPr/>
          <p:nvPr/>
        </p:nvSpPr>
        <p:spPr>
          <a:xfrm>
            <a:off x="914400" y="1371600"/>
            <a:ext cx="7315200" cy="1463040"/>
          </a:xfrm>
          <a:prstGeom prst="rect">
            <a:avLst/>
          </a:prstGeom>
          <a:noFill/>
          <a:ln/>
        </p:spPr>
        <p:txBody>
          <a:bodyPr wrap="square" rtlCol="0" anchor="ctr"/>
          <a:lstStyle/>
          <a:p>
            <a:pPr marL="0" indent="0" algn="ctr">
              <a:buNone/>
            </a:pPr>
            <a:r>
              <a:rPr lang="en-US" sz="7200" b="1">
                <a:solidFill>
                  <a:srgbClr val="1B3A8A"/>
                </a:solidFill>
                <a:latin typeface="Calibri" pitchFamily="34" charset="0"/>
                <a:ea typeface="Calibri" pitchFamily="34" charset="-122"/>
                <a:cs typeface="Calibri" pitchFamily="34" charset="-120"/>
              </a:rPr>
              <a:t>Thank You</a:t>
            </a:r>
            <a:endParaRPr lang="en-US" sz="7200"/>
          </a:p>
        </p:txBody>
      </p:sp>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a:solidFill>
                  <a:srgbClr val="1565C0"/>
                </a:solidFill>
                <a:latin typeface="Calibri" pitchFamily="34" charset="0"/>
                <a:ea typeface="Calibri" pitchFamily="34" charset="-122"/>
                <a:cs typeface="Calibri" pitchFamily="34" charset="-120"/>
              </a:rPr>
              <a:t>AICW Fellowship  |  Student Project Presentation 2026</a:t>
            </a:r>
            <a:endParaRPr lang="en-US" sz="1400"/>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solidFill>
                  <a:srgbClr val="607D8B"/>
                </a:solidFill>
                <a:latin typeface="Calibri"/>
                <a:ea typeface="Calibri"/>
                <a:cs typeface="Calibri"/>
              </a:rPr>
              <a:t>  LinkedIn  |   Edunet Foundation</a:t>
            </a:r>
            <a:endParaRPr lang="en-US" sz="1100" dirty="0"/>
          </a:p>
        </p:txBody>
      </p:sp>
      <p:sp>
        <p:nvSpPr>
          <p:cNvPr id="7" name="Shape 5"/>
          <p:cNvSpPr/>
          <p:nvPr/>
        </p:nvSpPr>
        <p:spPr>
          <a:xfrm>
            <a:off x="0" y="4983480"/>
            <a:ext cx="9144000" cy="160020"/>
          </a:xfrm>
          <a:prstGeom prst="rect">
            <a:avLst/>
          </a:prstGeom>
          <a:solidFill>
            <a:srgbClr val="1B3A8A"/>
          </a:solidFill>
          <a:ln/>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882</Words>
  <Application>Microsoft Office PowerPoint</Application>
  <PresentationFormat>On-screen Show (16:9)</PresentationFormat>
  <Paragraphs>131</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Navya Vennela</cp:lastModifiedBy>
  <cp:revision>9</cp:revision>
  <dcterms:created xsi:type="dcterms:W3CDTF">2026-02-18T09:17:23Z</dcterms:created>
  <dcterms:modified xsi:type="dcterms:W3CDTF">2026-04-10T03:42:12Z</dcterms:modified>
</cp:coreProperties>
</file>